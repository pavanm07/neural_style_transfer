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399" r:id="rId4"/>
    <p:sldId id="400" r:id="rId5"/>
    <p:sldId id="258" r:id="rId6"/>
    <p:sldId id="259" r:id="rId7"/>
    <p:sldId id="375" r:id="rId8"/>
    <p:sldId id="376" r:id="rId9"/>
    <p:sldId id="396" r:id="rId10"/>
    <p:sldId id="392" r:id="rId11"/>
    <p:sldId id="268" r:id="rId12"/>
    <p:sldId id="430" r:id="rId13"/>
    <p:sldId id="429" r:id="rId14"/>
    <p:sldId id="407" r:id="rId15"/>
    <p:sldId id="432" r:id="rId16"/>
    <p:sldId id="433" r:id="rId17"/>
    <p:sldId id="434" r:id="rId18"/>
    <p:sldId id="431" r:id="rId19"/>
    <p:sldId id="387" r:id="rId20"/>
    <p:sldId id="383" r:id="rId21"/>
    <p:sldId id="290" r:id="rId22"/>
    <p:sldId id="28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D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2F3377-3D35-4BDC-8523-447B35F780A8}" v="7" dt="2023-10-12T15:59:35.326"/>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6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 name="PlaceHolder 1"/>
          <p:cNvSpPr>
            <a:spLocks noGrp="1"/>
          </p:cNvSpPr>
          <p:nvPr>
            <p:ph type="body"/>
          </p:nvPr>
        </p:nvSpPr>
        <p:spPr>
          <a:xfrm>
            <a:off x="756000" y="5078520"/>
            <a:ext cx="6047640" cy="4811040"/>
          </a:xfrm>
          <a:prstGeom prst="rect">
            <a:avLst/>
          </a:prstGeom>
        </p:spPr>
        <p:txBody>
          <a:bodyPr wrap="none" lIns="0" tIns="0" rIns="0" bIns="0"/>
          <a:lstStyle/>
          <a:p>
            <a:r>
              <a:rPr lang="en-IN"/>
              <a:t>Click to edit the notes format</a:t>
            </a:r>
            <a:endParaRPr/>
          </a:p>
        </p:txBody>
      </p:sp>
      <p:sp>
        <p:nvSpPr>
          <p:cNvPr id="35" name="PlaceHolder 2"/>
          <p:cNvSpPr>
            <a:spLocks noGrp="1"/>
          </p:cNvSpPr>
          <p:nvPr>
            <p:ph type="hdr"/>
          </p:nvPr>
        </p:nvSpPr>
        <p:spPr>
          <a:xfrm>
            <a:off x="0" y="0"/>
            <a:ext cx="3280320" cy="534240"/>
          </a:xfrm>
          <a:prstGeom prst="rect">
            <a:avLst/>
          </a:prstGeom>
        </p:spPr>
        <p:txBody>
          <a:bodyPr wrap="none" lIns="0" tIns="0" rIns="0" bIns="0"/>
          <a:lstStyle/>
          <a:p>
            <a:r>
              <a:rPr lang="en-IN"/>
              <a:t>&lt;header&gt;</a:t>
            </a:r>
            <a:endParaRPr/>
          </a:p>
        </p:txBody>
      </p:sp>
      <p:sp>
        <p:nvSpPr>
          <p:cNvPr id="36" name="PlaceHolder 3"/>
          <p:cNvSpPr>
            <a:spLocks noGrp="1"/>
          </p:cNvSpPr>
          <p:nvPr>
            <p:ph type="dt"/>
          </p:nvPr>
        </p:nvSpPr>
        <p:spPr>
          <a:xfrm>
            <a:off x="4279320" y="0"/>
            <a:ext cx="3280320" cy="534240"/>
          </a:xfrm>
          <a:prstGeom prst="rect">
            <a:avLst/>
          </a:prstGeom>
        </p:spPr>
        <p:txBody>
          <a:bodyPr wrap="none" lIns="0" tIns="0" rIns="0" bIns="0"/>
          <a:lstStyle/>
          <a:p>
            <a:pPr algn="r"/>
            <a:r>
              <a:rPr lang="en-IN"/>
              <a:t>&lt;date/time&gt;</a:t>
            </a:r>
            <a:endParaRPr/>
          </a:p>
        </p:txBody>
      </p:sp>
      <p:sp>
        <p:nvSpPr>
          <p:cNvPr id="37" name="PlaceHolder 4"/>
          <p:cNvSpPr>
            <a:spLocks noGrp="1"/>
          </p:cNvSpPr>
          <p:nvPr>
            <p:ph type="ftr"/>
          </p:nvPr>
        </p:nvSpPr>
        <p:spPr>
          <a:xfrm>
            <a:off x="0" y="10157400"/>
            <a:ext cx="3280320" cy="534240"/>
          </a:xfrm>
          <a:prstGeom prst="rect">
            <a:avLst/>
          </a:prstGeom>
        </p:spPr>
        <p:txBody>
          <a:bodyPr wrap="none" lIns="0" tIns="0" rIns="0" bIns="0" anchor="b"/>
          <a:lstStyle/>
          <a:p>
            <a:r>
              <a:rPr lang="en-IN"/>
              <a:t>&lt;footer&gt;</a:t>
            </a:r>
            <a:endParaRPr/>
          </a:p>
        </p:txBody>
      </p:sp>
      <p:sp>
        <p:nvSpPr>
          <p:cNvPr id="38" name="PlaceHolder 5"/>
          <p:cNvSpPr>
            <a:spLocks noGrp="1"/>
          </p:cNvSpPr>
          <p:nvPr>
            <p:ph type="sldNum"/>
          </p:nvPr>
        </p:nvSpPr>
        <p:spPr>
          <a:xfrm>
            <a:off x="4279320" y="10157400"/>
            <a:ext cx="3280320" cy="534240"/>
          </a:xfrm>
          <a:prstGeom prst="rect">
            <a:avLst/>
          </a:prstGeom>
        </p:spPr>
        <p:txBody>
          <a:bodyPr wrap="none" lIns="0" tIns="0" rIns="0" bIns="0" anchor="b"/>
          <a:lstStyle/>
          <a:p>
            <a:pPr algn="r"/>
            <a:fld id="{51811100-C181-4161-81E1-C1B1D191B141}" type="slidenum">
              <a:rPr lang="en-IN"/>
              <a:pPr algn="r"/>
              <a:t>‹#›</a:t>
            </a:fld>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49" name="CustomShape 2"/>
          <p:cNvSpPr/>
          <p:nvPr/>
        </p:nvSpPr>
        <p:spPr>
          <a:xfrm>
            <a:off x="0" y="0"/>
            <a:ext cx="11796480" cy="11796480"/>
          </a:xfrm>
          <a:prstGeom prst="rect">
            <a:avLst/>
          </a:prstGeom>
        </p:spPr>
        <p:txBody>
          <a:bodyPr lIns="90000" tIns="45000" rIns="90000" bIns="45000"/>
          <a:lstStyle/>
          <a:p>
            <a:pPr>
              <a:lnSpc>
                <a:spcPct val="100000"/>
              </a:lnSpc>
            </a:pPr>
            <a:fld id="{11216171-A131-4111-8101-11D1D10191D1}" type="slidenum">
              <a:rPr lang="en-IN">
                <a:solidFill>
                  <a:srgbClr val="000000"/>
                </a:solidFill>
                <a:latin typeface="+mn-lt"/>
                <a:ea typeface="+mn-ea"/>
              </a:rPr>
              <a:pPr>
                <a:lnSpc>
                  <a:spcPct val="100000"/>
                </a:lnSpc>
              </a:pPr>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1" name="CustomShape 2"/>
          <p:cNvSpPr/>
          <p:nvPr/>
        </p:nvSpPr>
        <p:spPr>
          <a:xfrm>
            <a:off x="0" y="0"/>
            <a:ext cx="11796480" cy="11796480"/>
          </a:xfrm>
          <a:prstGeom prst="rect">
            <a:avLst/>
          </a:prstGeom>
        </p:spPr>
        <p:txBody>
          <a:bodyPr lIns="90000" tIns="45000" rIns="90000" bIns="45000"/>
          <a:lstStyle/>
          <a:p>
            <a:pPr>
              <a:lnSpc>
                <a:spcPct val="100000"/>
              </a:lnSpc>
            </a:pPr>
            <a:fld id="{111131C1-D111-41A1-81D1-3111B1E131A1}" type="slidenum">
              <a:rPr lang="en-IN">
                <a:solidFill>
                  <a:srgbClr val="000000"/>
                </a:solidFill>
                <a:latin typeface="+mn-lt"/>
                <a:ea typeface="+mn-ea"/>
              </a:rPr>
              <a:pPr>
                <a:lnSpc>
                  <a:spcPct val="100000"/>
                </a:lnSpc>
              </a:pPr>
              <a:t>5</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53" name="CustomShape 2"/>
          <p:cNvSpPr/>
          <p:nvPr/>
        </p:nvSpPr>
        <p:spPr>
          <a:xfrm>
            <a:off x="0" y="0"/>
            <a:ext cx="11796480" cy="11796480"/>
          </a:xfrm>
          <a:prstGeom prst="rect">
            <a:avLst/>
          </a:prstGeom>
        </p:spPr>
        <p:txBody>
          <a:bodyPr lIns="90000" tIns="45000" rIns="90000" bIns="45000"/>
          <a:lstStyle/>
          <a:p>
            <a:pPr>
              <a:lnSpc>
                <a:spcPct val="100000"/>
              </a:lnSpc>
            </a:pPr>
            <a:fld id="{D19121C1-21D1-4161-B1F1-C141D1918151}" type="slidenum">
              <a:rPr lang="en-IN">
                <a:solidFill>
                  <a:srgbClr val="000000"/>
                </a:solidFill>
                <a:latin typeface="+mn-lt"/>
                <a:ea typeface="+mn-ea"/>
              </a:rPr>
              <a:pPr>
                <a:lnSpc>
                  <a:spcPct val="100000"/>
                </a:lnSpc>
              </a:pPr>
              <a:t>6</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7</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9</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body"/>
          </p:nvPr>
        </p:nvSpPr>
        <p:spPr>
          <a:xfrm>
            <a:off x="0" y="0"/>
            <a:ext cx="11796480" cy="11796480"/>
          </a:xfrm>
          <a:prstGeom prst="rect">
            <a:avLst/>
          </a:prstGeom>
        </p:spPr>
        <p:txBody>
          <a:bodyPr lIns="90000" tIns="45000" rIns="90000" bIns="45000"/>
          <a:lstStyle/>
          <a:p>
            <a:endParaRPr/>
          </a:p>
        </p:txBody>
      </p:sp>
      <p:sp>
        <p:nvSpPr>
          <p:cNvPr id="171" name="CustomShape 2"/>
          <p:cNvSpPr/>
          <p:nvPr/>
        </p:nvSpPr>
        <p:spPr>
          <a:xfrm>
            <a:off x="0" y="0"/>
            <a:ext cx="11796480" cy="11796480"/>
          </a:xfrm>
          <a:prstGeom prst="rect">
            <a:avLst/>
          </a:prstGeom>
        </p:spPr>
        <p:txBody>
          <a:bodyPr lIns="90000" tIns="45000" rIns="90000" bIns="45000"/>
          <a:lstStyle/>
          <a:p>
            <a:pPr>
              <a:lnSpc>
                <a:spcPct val="100000"/>
              </a:lnSpc>
            </a:pPr>
            <a:fld id="{C161C1D1-A141-41A1-8121-0111B131A1E1}" type="slidenum">
              <a:rPr lang="en-IN">
                <a:solidFill>
                  <a:srgbClr val="000000"/>
                </a:solidFill>
                <a:latin typeface="+mn-lt"/>
                <a:ea typeface="+mn-ea"/>
              </a:rPr>
              <a:pPr>
                <a:lnSpc>
                  <a:spcPct val="100000"/>
                </a:lnSpc>
              </a:pPr>
              <a:t>13</a:t>
            </a:fld>
            <a:endParaRPr/>
          </a:p>
        </p:txBody>
      </p:sp>
    </p:spTree>
    <p:extLst>
      <p:ext uri="{BB962C8B-B14F-4D97-AF65-F5344CB8AC3E}">
        <p14:creationId xmlns:p14="http://schemas.microsoft.com/office/powerpoint/2010/main" val="99667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 name="PlaceHolder 2"/>
          <p:cNvSpPr>
            <a:spLocks noGrp="1"/>
          </p:cNvSpPr>
          <p:nvPr>
            <p:ph type="subTitle"/>
          </p:nvPr>
        </p:nvSpPr>
        <p:spPr>
          <a:xfrm>
            <a:off x="457200" y="1604520"/>
            <a:ext cx="8046360" cy="3977280"/>
          </a:xfrm>
          <a:prstGeom prst="rect">
            <a:avLst/>
          </a:prstGeom>
        </p:spPr>
        <p:txBody>
          <a:bodyPr wrap="none" lIns="0" tIns="0" rIns="0" bIns="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5" name="PlaceHolder 2"/>
          <p:cNvSpPr>
            <a:spLocks noGrp="1"/>
          </p:cNvSpPr>
          <p:nvPr>
            <p:ph type="body"/>
          </p:nvPr>
        </p:nvSpPr>
        <p:spPr>
          <a:xfrm>
            <a:off x="457200" y="1604520"/>
            <a:ext cx="8046360" cy="3976920"/>
          </a:xfrm>
          <a:prstGeom prst="rect">
            <a:avLst/>
          </a:prstGeom>
        </p:spPr>
        <p:txBody>
          <a:bodyPr wrap="none" lIns="0" tIns="0" rIns="0" bIns="0"/>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7"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8" name="PlaceHolder 3"/>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85800" y="2130480"/>
            <a:ext cx="7771680" cy="3450960"/>
          </a:xfrm>
          <a:prstGeom prst="rect">
            <a:avLst/>
          </a:prstGeom>
        </p:spPr>
        <p:txBody>
          <a:bodyPr wrap="none" lIns="0" tIns="0" rIns="0" bIns="0" anchor="ctr"/>
          <a:lstStyle/>
          <a:p>
            <a:pPr algn="ct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13" name="PlaceHolder 3"/>
          <p:cNvSpPr>
            <a:spLocks noGrp="1"/>
          </p:cNvSpPr>
          <p:nvPr>
            <p:ph type="body"/>
          </p:nvPr>
        </p:nvSpPr>
        <p:spPr>
          <a:xfrm>
            <a:off x="457200" y="3681360"/>
            <a:ext cx="3926160" cy="1896480"/>
          </a:xfrm>
          <a:prstGeom prst="rect">
            <a:avLst/>
          </a:prstGeom>
        </p:spPr>
        <p:txBody>
          <a:bodyPr wrap="none" lIns="0" tIns="0" rIns="0" bIns="0"/>
          <a:lstStyle/>
          <a:p>
            <a:endParaRPr/>
          </a:p>
        </p:txBody>
      </p:sp>
      <p:sp>
        <p:nvSpPr>
          <p:cNvPr id="14" name="PlaceHolder 4"/>
          <p:cNvSpPr>
            <a:spLocks noGrp="1"/>
          </p:cNvSpPr>
          <p:nvPr>
            <p:ph type="body"/>
          </p:nvPr>
        </p:nvSpPr>
        <p:spPr>
          <a:xfrm>
            <a:off x="4579920" y="1604520"/>
            <a:ext cx="3926160" cy="3976920"/>
          </a:xfrm>
          <a:prstGeom prst="rect">
            <a:avLst/>
          </a:prstGeom>
        </p:spPr>
        <p:txBody>
          <a:bodyPr wrap="none" lIns="0" tIns="0" rIns="0" bIns="0"/>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16" name="PlaceHolder 2"/>
          <p:cNvSpPr>
            <a:spLocks noGrp="1"/>
          </p:cNvSpPr>
          <p:nvPr>
            <p:ph type="body"/>
          </p:nvPr>
        </p:nvSpPr>
        <p:spPr>
          <a:xfrm>
            <a:off x="457200" y="1604520"/>
            <a:ext cx="3926160" cy="3976920"/>
          </a:xfrm>
          <a:prstGeom prst="rect">
            <a:avLst/>
          </a:prstGeom>
        </p:spPr>
        <p:txBody>
          <a:bodyPr wrap="none" lIns="0" tIns="0" rIns="0" bIns="0"/>
          <a:lstStyle/>
          <a:p>
            <a:endParaRPr/>
          </a:p>
        </p:txBody>
      </p:sp>
      <p:sp>
        <p:nvSpPr>
          <p:cNvPr id="17"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18"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0"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1"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2" name="PlaceHolder 4"/>
          <p:cNvSpPr>
            <a:spLocks noGrp="1"/>
          </p:cNvSpPr>
          <p:nvPr>
            <p:ph type="body"/>
          </p:nvPr>
        </p:nvSpPr>
        <p:spPr>
          <a:xfrm>
            <a:off x="457200" y="3681360"/>
            <a:ext cx="8045640" cy="1896480"/>
          </a:xfrm>
          <a:prstGeom prst="rect">
            <a:avLst/>
          </a:prstGeom>
        </p:spPr>
        <p:txBody>
          <a:bodyPr wrap="none" lIns="0" tIns="0" rIns="0" bIns="0"/>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4" name="PlaceHolder 2"/>
          <p:cNvSpPr>
            <a:spLocks noGrp="1"/>
          </p:cNvSpPr>
          <p:nvPr>
            <p:ph type="body"/>
          </p:nvPr>
        </p:nvSpPr>
        <p:spPr>
          <a:xfrm>
            <a:off x="457200" y="1604520"/>
            <a:ext cx="8046360" cy="1896480"/>
          </a:xfrm>
          <a:prstGeom prst="rect">
            <a:avLst/>
          </a:prstGeom>
        </p:spPr>
        <p:txBody>
          <a:bodyPr wrap="none" lIns="0" tIns="0" rIns="0" bIns="0"/>
          <a:lstStyle/>
          <a:p>
            <a:endParaRPr/>
          </a:p>
        </p:txBody>
      </p:sp>
      <p:sp>
        <p:nvSpPr>
          <p:cNvPr id="25" name="PlaceHolder 3"/>
          <p:cNvSpPr>
            <a:spLocks noGrp="1"/>
          </p:cNvSpPr>
          <p:nvPr>
            <p:ph type="body"/>
          </p:nvPr>
        </p:nvSpPr>
        <p:spPr>
          <a:xfrm>
            <a:off x="457200" y="3681360"/>
            <a:ext cx="8046360" cy="1896480"/>
          </a:xfrm>
          <a:prstGeom prst="rect">
            <a:avLst/>
          </a:prstGeom>
        </p:spPr>
        <p:txBody>
          <a:bodyPr wrap="none" lIns="0" tIns="0" rIns="0" bIns="0"/>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27"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28"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
        <p:nvSpPr>
          <p:cNvPr id="29" name="PlaceHolder 4"/>
          <p:cNvSpPr>
            <a:spLocks noGrp="1"/>
          </p:cNvSpPr>
          <p:nvPr>
            <p:ph type="body"/>
          </p:nvPr>
        </p:nvSpPr>
        <p:spPr>
          <a:xfrm>
            <a:off x="4579920" y="3681360"/>
            <a:ext cx="3926160" cy="1896480"/>
          </a:xfrm>
          <a:prstGeom prst="rect">
            <a:avLst/>
          </a:prstGeom>
        </p:spPr>
        <p:txBody>
          <a:bodyPr wrap="none" lIns="0" tIns="0" rIns="0" bIns="0"/>
          <a:lstStyle/>
          <a:p>
            <a:endParaRPr/>
          </a:p>
        </p:txBody>
      </p:sp>
      <p:sp>
        <p:nvSpPr>
          <p:cNvPr id="30" name="PlaceHolder 5"/>
          <p:cNvSpPr>
            <a:spLocks noGrp="1"/>
          </p:cNvSpPr>
          <p:nvPr>
            <p:ph type="body"/>
          </p:nvPr>
        </p:nvSpPr>
        <p:spPr>
          <a:xfrm>
            <a:off x="457200" y="3681360"/>
            <a:ext cx="3926160" cy="1896480"/>
          </a:xfrm>
          <a:prstGeom prst="rect">
            <a:avLst/>
          </a:prstGeom>
        </p:spPr>
        <p:txBody>
          <a:bodyPr wrap="none" lIns="0" tIns="0" rIns="0" bIns="0"/>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85800" y="2130480"/>
            <a:ext cx="7771680" cy="1469880"/>
          </a:xfrm>
          <a:prstGeom prst="rect">
            <a:avLst/>
          </a:prstGeom>
        </p:spPr>
        <p:txBody>
          <a:bodyPr wrap="none" lIns="0" tIns="0" rIns="0" bIns="0" anchor="ctr"/>
          <a:lstStyle/>
          <a:p>
            <a:pPr algn="ctr"/>
            <a:endParaRPr/>
          </a:p>
        </p:txBody>
      </p:sp>
      <p:sp>
        <p:nvSpPr>
          <p:cNvPr id="32" name="PlaceHolder 2"/>
          <p:cNvSpPr>
            <a:spLocks noGrp="1"/>
          </p:cNvSpPr>
          <p:nvPr>
            <p:ph type="body"/>
          </p:nvPr>
        </p:nvSpPr>
        <p:spPr>
          <a:xfrm>
            <a:off x="457200" y="1604520"/>
            <a:ext cx="3926160" cy="1896480"/>
          </a:xfrm>
          <a:prstGeom prst="rect">
            <a:avLst/>
          </a:prstGeom>
        </p:spPr>
        <p:txBody>
          <a:bodyPr wrap="none" lIns="0" tIns="0" rIns="0" bIns="0"/>
          <a:lstStyle/>
          <a:p>
            <a:endParaRPr/>
          </a:p>
        </p:txBody>
      </p:sp>
      <p:sp>
        <p:nvSpPr>
          <p:cNvPr id="33" name="PlaceHolder 3"/>
          <p:cNvSpPr>
            <a:spLocks noGrp="1"/>
          </p:cNvSpPr>
          <p:nvPr>
            <p:ph type="body"/>
          </p:nvPr>
        </p:nvSpPr>
        <p:spPr>
          <a:xfrm>
            <a:off x="4579920" y="1604520"/>
            <a:ext cx="3926160" cy="1896480"/>
          </a:xfrm>
          <a:prstGeom prst="rect">
            <a:avLst/>
          </a:prstGeom>
        </p:spPr>
        <p:txBody>
          <a:bodyPr wrap="none" lIns="0" tIns="0" rIns="0" bIns="0"/>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520"/>
          </a:xfrm>
          <a:prstGeom prst="rect">
            <a:avLst/>
          </a:prstGeom>
        </p:spPr>
        <p:txBody>
          <a:bodyPr wrap="none" lIns="0" tIns="0" rIns="0" bIns="0" anchor="ctr"/>
          <a:lstStyle/>
          <a:p>
            <a:r>
              <a:rPr lang="en-IN"/>
              <a:t>Click to edit the title text format</a:t>
            </a:r>
            <a:endParaRPr/>
          </a:p>
        </p:txBody>
      </p:sp>
      <p:sp>
        <p:nvSpPr>
          <p:cNvPr id="3" name="PlaceHolder 2"/>
          <p:cNvSpPr>
            <a:spLocks noGrp="1"/>
          </p:cNvSpPr>
          <p:nvPr>
            <p:ph type="body"/>
          </p:nvPr>
        </p:nvSpPr>
        <p:spPr>
          <a:xfrm>
            <a:off x="457200" y="1604520"/>
            <a:ext cx="8046360" cy="3976920"/>
          </a:xfrm>
          <a:prstGeom prst="rect">
            <a:avLst/>
          </a:prstGeom>
        </p:spPr>
        <p:txBody>
          <a:bodyPr wrap="none" lIns="0" tIns="0" rIns="0" bIns="0"/>
          <a:lstStyle/>
          <a:p>
            <a:pPr>
              <a:buSzPct val="45000"/>
              <a:buFont typeface="StarSymbol"/>
              <a:buChar char=""/>
            </a:pPr>
            <a:r>
              <a:rPr lang="en-IN"/>
              <a:t>Click to edit the outline text format</a:t>
            </a:r>
            <a:endParaRPr/>
          </a:p>
          <a:p>
            <a:pPr lvl="1">
              <a:buSzPct val="75000"/>
              <a:buFont typeface="StarSymbol"/>
              <a:buChar char=""/>
            </a:pPr>
            <a:r>
              <a:rPr lang="en-IN"/>
              <a:t>Second Outline Level</a:t>
            </a:r>
            <a:endParaRPr/>
          </a:p>
          <a:p>
            <a:pPr lvl="2">
              <a:buSzPct val="45000"/>
              <a:buFont typeface="StarSymbol"/>
              <a:buChar char=""/>
            </a:pPr>
            <a:r>
              <a:rPr lang="en-IN"/>
              <a:t>Third Outline Level</a:t>
            </a:r>
            <a:endParaRPr/>
          </a:p>
          <a:p>
            <a:pPr lvl="3">
              <a:buSzPct val="75000"/>
              <a:buFont typeface="StarSymbol"/>
              <a:buChar char=""/>
            </a:pPr>
            <a:r>
              <a:rPr lang="en-IN"/>
              <a:t>Fourth Outline Level</a:t>
            </a:r>
            <a:endParaRPr/>
          </a:p>
          <a:p>
            <a:pPr lvl="4">
              <a:buSzPct val="45000"/>
              <a:buFont typeface="StarSymbol"/>
              <a:buChar char=""/>
            </a:pPr>
            <a:r>
              <a:rPr lang="en-IN"/>
              <a:t>Fifth Outline Level</a:t>
            </a:r>
            <a:endParaRPr/>
          </a:p>
          <a:p>
            <a:pPr lvl="5">
              <a:buSzPct val="45000"/>
              <a:buFont typeface="StarSymbol"/>
              <a:buChar char=""/>
            </a:pPr>
            <a:r>
              <a:rPr lang="en-IN"/>
              <a:t>Sixth Outline Level</a:t>
            </a:r>
            <a:endParaRPr/>
          </a:p>
          <a:p>
            <a:pPr lvl="6">
              <a:buSzPct val="45000"/>
              <a:buFont typeface="StarSymbol"/>
              <a:buChar char=""/>
            </a:pPr>
            <a:r>
              <a:rPr lang="en-IN"/>
              <a:t>Seventh Outline Level</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447800"/>
            <a:ext cx="9144000" cy="707886"/>
          </a:xfrm>
          <a:prstGeom prst="rect">
            <a:avLst/>
          </a:prstGeom>
          <a:noFill/>
        </p:spPr>
        <p:txBody>
          <a:bodyPr wrap="square" rtlCol="0">
            <a:spAutoFit/>
          </a:bodyPr>
          <a:lstStyle/>
          <a:p>
            <a:pPr algn="ctr"/>
            <a:r>
              <a:rPr lang="en-US" sz="4000" b="1" dirty="0">
                <a:ln w="1905"/>
                <a:effectLst>
                  <a:innerShdw blurRad="69850" dist="43180" dir="5400000">
                    <a:srgbClr val="000000">
                      <a:alpha val="65000"/>
                    </a:srgbClr>
                  </a:innerShdw>
                </a:effectLst>
              </a:rPr>
              <a:t>Neural Style Transfer </a:t>
            </a:r>
          </a:p>
        </p:txBody>
      </p:sp>
      <p:sp>
        <p:nvSpPr>
          <p:cNvPr id="3" name="TextBox 2"/>
          <p:cNvSpPr txBox="1"/>
          <p:nvPr/>
        </p:nvSpPr>
        <p:spPr>
          <a:xfrm>
            <a:off x="5337175" y="2743200"/>
            <a:ext cx="5029200" cy="923330"/>
          </a:xfrm>
          <a:prstGeom prst="rect">
            <a:avLst/>
          </a:prstGeom>
          <a:noFill/>
        </p:spPr>
        <p:txBody>
          <a:bodyPr wrap="square" rtlCol="0">
            <a:spAutoFit/>
          </a:bodyPr>
          <a:lstStyle/>
          <a:p>
            <a:r>
              <a:rPr lang="en-US" b="1" dirty="0">
                <a:solidFill>
                  <a:schemeClr val="tx2">
                    <a:lumMod val="75000"/>
                  </a:schemeClr>
                </a:solidFill>
              </a:rPr>
              <a:t>Name of the student:</a:t>
            </a:r>
          </a:p>
          <a:p>
            <a:r>
              <a:rPr lang="en-US" b="1" dirty="0">
                <a:solidFill>
                  <a:schemeClr val="tx2">
                    <a:lumMod val="75000"/>
                  </a:schemeClr>
                </a:solidFill>
              </a:rPr>
              <a:t>20H51A05H9-M.Pavan </a:t>
            </a:r>
          </a:p>
          <a:p>
            <a:r>
              <a:rPr lang="en-US" b="1" dirty="0">
                <a:solidFill>
                  <a:schemeClr val="tx2">
                    <a:lumMod val="75000"/>
                  </a:schemeClr>
                </a:solidFill>
              </a:rPr>
              <a:t>20H51A05J2-P.</a:t>
            </a:r>
            <a:r>
              <a:rPr lang="en-US" b="1">
                <a:solidFill>
                  <a:schemeClr val="tx2">
                    <a:lumMod val="75000"/>
                  </a:schemeClr>
                </a:solidFill>
              </a:rPr>
              <a:t>Neethika  </a:t>
            </a:r>
            <a:endParaRPr lang="en-US" b="1" dirty="0">
              <a:solidFill>
                <a:schemeClr val="tx2">
                  <a:lumMod val="75000"/>
                </a:schemeClr>
              </a:solidFill>
            </a:endParaRPr>
          </a:p>
        </p:txBody>
      </p:sp>
      <p:sp>
        <p:nvSpPr>
          <p:cNvPr id="4" name="TextBox 3"/>
          <p:cNvSpPr txBox="1"/>
          <p:nvPr/>
        </p:nvSpPr>
        <p:spPr>
          <a:xfrm>
            <a:off x="155575" y="4419600"/>
            <a:ext cx="5181600" cy="1118255"/>
          </a:xfrm>
          <a:prstGeom prst="rect">
            <a:avLst/>
          </a:prstGeom>
          <a:noFill/>
        </p:spPr>
        <p:txBody>
          <a:bodyPr wrap="square" rtlCol="0">
            <a:spAutoFit/>
          </a:bodyPr>
          <a:lstStyle/>
          <a:p>
            <a:pPr marR="64008" lvl="0">
              <a:spcBef>
                <a:spcPts val="400"/>
              </a:spcBef>
              <a:buClr>
                <a:schemeClr val="accent1"/>
              </a:buClr>
              <a:buSzPct val="68000"/>
              <a:defRPr/>
            </a:pPr>
            <a:r>
              <a:rPr lang="en-US" sz="2000" b="1" dirty="0">
                <a:solidFill>
                  <a:srgbClr val="C00000"/>
                </a:solidFill>
              </a:rPr>
              <a:t>Under esteemed guidance of:</a:t>
            </a:r>
          </a:p>
          <a:p>
            <a:pPr marR="64008" lvl="0">
              <a:spcBef>
                <a:spcPts val="400"/>
              </a:spcBef>
              <a:buClr>
                <a:schemeClr val="accent1"/>
              </a:buClr>
              <a:buSzPct val="68000"/>
              <a:defRPr/>
            </a:pPr>
            <a:r>
              <a:rPr lang="en-US" sz="2000" b="1" dirty="0" err="1">
                <a:solidFill>
                  <a:srgbClr val="C00000"/>
                </a:solidFill>
              </a:rPr>
              <a:t>Dr.S.Siva</a:t>
            </a:r>
            <a:r>
              <a:rPr lang="en-US" sz="2000" b="1" dirty="0">
                <a:solidFill>
                  <a:srgbClr val="C00000"/>
                </a:solidFill>
              </a:rPr>
              <a:t> Skanda</a:t>
            </a:r>
          </a:p>
          <a:p>
            <a:pPr marR="64008" lvl="0">
              <a:spcBef>
                <a:spcPts val="400"/>
              </a:spcBef>
              <a:buClr>
                <a:schemeClr val="accent1"/>
              </a:buClr>
              <a:buSzPct val="68000"/>
              <a:defRPr/>
            </a:pPr>
            <a:r>
              <a:rPr lang="en-US" sz="2000" b="1" dirty="0">
                <a:solidFill>
                  <a:srgbClr val="C00000"/>
                </a:solidFill>
              </a:rPr>
              <a:t>Associate Professor and HOD</a:t>
            </a:r>
          </a:p>
        </p:txBody>
      </p:sp>
      <p:graphicFrame>
        <p:nvGraphicFramePr>
          <p:cNvPr id="5" name="Table 4"/>
          <p:cNvGraphicFramePr>
            <a:graphicFrameLocks noGrp="1"/>
          </p:cNvGraphicFramePr>
          <p:nvPr>
            <p:extLst>
              <p:ext uri="{D42A27DB-BD31-4B8C-83A1-F6EECF244321}">
                <p14:modId xmlns:p14="http://schemas.microsoft.com/office/powerpoint/2010/main" val="379951770"/>
              </p:ext>
            </p:extLst>
          </p:nvPr>
        </p:nvGraphicFramePr>
        <p:xfrm>
          <a:off x="1524000" y="228600"/>
          <a:ext cx="7010400" cy="951198"/>
        </p:xfrm>
        <a:graphic>
          <a:graphicData uri="http://schemas.openxmlformats.org/drawingml/2006/table">
            <a:tbl>
              <a:tblPr>
                <a:tableStyleId>{2D5ABB26-0587-4C30-8999-92F81FD0307C}</a:tableStyleId>
              </a:tblPr>
              <a:tblGrid>
                <a:gridCol w="7010400">
                  <a:extLst>
                    <a:ext uri="{9D8B030D-6E8A-4147-A177-3AD203B41FA5}">
                      <a16:colId xmlns:a16="http://schemas.microsoft.com/office/drawing/2014/main" val="20000"/>
                    </a:ext>
                  </a:extLst>
                </a:gridCol>
              </a:tblGrid>
              <a:tr h="80953">
                <a:tc>
                  <a:txBody>
                    <a:bodyPr/>
                    <a:lstStyle/>
                    <a:p>
                      <a:pPr algn="ctr" rtl="0" fontAlgn="b"/>
                      <a:r>
                        <a:rPr lang="en-US" sz="2000" dirty="0">
                          <a:solidFill>
                            <a:srgbClr val="002060"/>
                          </a:solidFill>
                        </a:rPr>
                        <a:t>CMR COLLEGE OF ENGINEERING &amp; TECHNOLOGY</a:t>
                      </a:r>
                      <a:endParaRPr lang="en-US" sz="2000" b="1" dirty="0">
                        <a:solidFill>
                          <a:srgbClr val="002060"/>
                        </a:solidFill>
                        <a:latin typeface="Calibri"/>
                      </a:endParaRPr>
                    </a:p>
                  </a:txBody>
                  <a:tcPr marL="9199" marR="9199" marT="6133" marB="6133" anchor="b"/>
                </a:tc>
                <a:extLst>
                  <a:ext uri="{0D108BD9-81ED-4DB2-BD59-A6C34878D82A}">
                    <a16:rowId xmlns:a16="http://schemas.microsoft.com/office/drawing/2014/main" val="10000"/>
                  </a:ext>
                </a:extLst>
              </a:tr>
              <a:tr h="80953">
                <a:tc>
                  <a:txBody>
                    <a:bodyPr/>
                    <a:lstStyle/>
                    <a:p>
                      <a:pPr algn="ctr" rtl="0" fontAlgn="b"/>
                      <a:r>
                        <a:rPr lang="en-US" sz="2000" dirty="0" err="1">
                          <a:solidFill>
                            <a:srgbClr val="002060"/>
                          </a:solidFill>
                        </a:rPr>
                        <a:t>Kandlakoya</a:t>
                      </a:r>
                      <a:r>
                        <a:rPr lang="en-US" sz="2000" dirty="0">
                          <a:solidFill>
                            <a:srgbClr val="002060"/>
                          </a:solidFill>
                        </a:rPr>
                        <a:t>, </a:t>
                      </a:r>
                      <a:r>
                        <a:rPr lang="en-US" sz="2000" dirty="0" err="1">
                          <a:solidFill>
                            <a:srgbClr val="002060"/>
                          </a:solidFill>
                        </a:rPr>
                        <a:t>Medchal</a:t>
                      </a:r>
                      <a:r>
                        <a:rPr lang="en-US" sz="2000" dirty="0">
                          <a:solidFill>
                            <a:srgbClr val="002060"/>
                          </a:solidFill>
                        </a:rPr>
                        <a:t>, Hyderabad - 501401</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1"/>
                  </a:ext>
                </a:extLst>
              </a:tr>
              <a:tr h="80953">
                <a:tc>
                  <a:txBody>
                    <a:bodyPr/>
                    <a:lstStyle/>
                    <a:p>
                      <a:pPr algn="ctr" rtl="0" fontAlgn="b"/>
                      <a:r>
                        <a:rPr lang="en-US" sz="2000" dirty="0">
                          <a:solidFill>
                            <a:srgbClr val="002060"/>
                          </a:solidFill>
                        </a:rPr>
                        <a:t>Department of Computer Science and Engineering</a:t>
                      </a:r>
                      <a:endParaRPr lang="en-US" sz="2000" b="1" dirty="0">
                        <a:solidFill>
                          <a:srgbClr val="002060"/>
                        </a:solidFill>
                        <a:latin typeface="Times New Roman"/>
                      </a:endParaRPr>
                    </a:p>
                  </a:txBody>
                  <a:tcPr marL="9199" marR="9199" marT="6133" marB="6133" anchor="b"/>
                </a:tc>
                <a:extLst>
                  <a:ext uri="{0D108BD9-81ED-4DB2-BD59-A6C34878D82A}">
                    <a16:rowId xmlns:a16="http://schemas.microsoft.com/office/drawing/2014/main" val="10002"/>
                  </a:ext>
                </a:extLst>
              </a:tr>
            </a:tbl>
          </a:graphicData>
        </a:graphic>
      </p:graphicFrame>
      <p:sp>
        <p:nvSpPr>
          <p:cNvPr id="30722" name="AutoShape 2" descr="data:image/png;base64,iVBORw0KGgoAAAANSUhEUgAAAEwAAABNCAYAAAAMy4KOAAAAAXNSR0IArs4c6QAAIABJREFUeF7tvAezG1eW5/lLB48H4HnDRyuKIiWR8iVHUa5LrlS+a6Z7tmNntmc+205P9O5GlXyVRIqkbMmXRO+e9wYeSL9xTiZIVmxsxHyAASP1BCCRee//HvM/5qYRx3HM/3r9TyNgCGDR/+f0GPmHHvIa/DX0nYGBwhzL/4FhJH/ls+RzOUdP1FcUh0RxhGEZmKZFLF9EoR4mAQYRxB74fXB7yXd2Bpws2Dk9QsNBzo707gaWARYhRhySrLlJjJXedDDOuyYmpxgxhg54MLfo7+aZfConyLWM9P/1B3ohR38ax3GQ4nFH1ORCIbExgDL5xlCADEEIYhNB2pR/A8CiZK4yflNua8oAYvwwICTAtA0sO6MDiUIfM+hjRy4mLoQt4vY2UWOL2HMx8yXM0jAUh6EwjGcVcSOHAAvDMMmYMVl8rMgjFtBwiMgQx5YupJkOc7DuMiaFwJSFi4mNAOR3OscEOJllhCyoTaSLI9dKFxgoyTUFsFDRT+VIsYmIDRnEHQlLoUrXVyTMVGDkczOBUVc6jtLVlYvrlVIJE9kQsRAJE0kMPczQxQ57GEGbuLuFt71Me2OJwO1RqAyTH5nEqk5hVKYIs1X8OIMXy2QMbCMBzI59nTiGTWw4xLJUcTIiESS9lwxCpTDCECkT0MwIDPndHW3S0xSoBDC9lgIoUENxIGGRXDRVIb2J/EuRv1tbB8Ak6A7U8rbmpSNLkFLRH6ipam8i4vJX7xb5mJGL5Teht0u4u0R79Qa7K3O4/S6lao3KxB5y4wewxw8QFycIjTxu7BCKBKk8BdgDlRY4DJVrTFXNRNKIBuOU1U2VzkiASwAT4JLPVfJT1RawkkMAS/DJDwCTFbgNWCpVcq/k0zuKOpAyBSuKE4lKfYbaIV1BMFQf7kLLsIhNmyhOzpKvzTjAiMRm7UBzFXf1GruLl9lauk6316ZQGmJkej/VvUfJ7TmGUZ0ltkp45PBjE6IIOw7IiLQYEVEcqK0UdbUMG0MtjoAmEpeuXrpWiZGVkQhgKWgpYANbeAcwAS1BIXsbMLE7inKi5wqV6usdw50oX2rEBawoWRkFKNX+mEAHIoAktxDbICucUXkII1n5GMuMMY0AU1SxvYa/NUd3+RKtlau0NxZx3Q5mJkd5dIba3qOU9j6ANX4P5EcJzSJ+7OiCidF3VFoELI8IX8djKmAZtT/ENob8FfVS26s2IjEWKl2DQ0BMDPzfgzUw/ncZfTFiA3s1AOUOVqm0DOwUMZGAJV5PxyBnir0LCGNPTDymIYAkKqA3j/NEUYFIAItjLCvEkvO8OuHuPN3Vq3SWLtBbv0HQWCcMXELTIluZYGj6XgUsM3UfVmUPcbZKYGSJIlG9CNsQLxsQ0SOkn1pNAcmB2MEko4dhqI9TnBKjLbZsoKapWopGp94xMSGJdKrnNECWQY0+gUw4Af/vABNxVruTfK4SLYskOqzGUyRMKINPEHbxgi5h3FdAbKUQ8kO5TRniCmFoqWRaZoAddTF7m3jr12ksXqC9dIFwZx7HbWAQEhkW5KvYI/vJTd2napkbO4g1NEVkldSDJVMSwES6OgSx3N9X1Y8jByPOYpPHtgpYRlYlTc1P6uXuLHgqZQpYaohSabsbMMuwBoAFiYQNDNkAHtX9u/R/4ElT6RHbEePiBh3a3V3a3R3coIVlB2SyJpmsjW3nyVgjZM1RDGTQYBlCKdrQWqG3fIXG/I90ly5iNpfIBR0c2yAybHy7iF+cwBq7h/zeByjPHCEzug+cIURGxWaBRxj36Hk7dNw6ftAnDEUSsmSsMvlMjUK2Rs4pYRmZxIvLz+62NmrTQjGsifEfSM1tJ5WcbxqyCCphfnLibcAGhvIuwAbSpQ5SJEskLNTBtvs7bNdX2a6v0OltY1geuaJNrpghlylSzE5QdKbI2SUc08YxQgy/SbizSGfhIs25H+kvXybTXqMQd8k7NrGVoRtnaDtVotp+CvsfpHrgAfKTByFbwYvB8/sEUR83bNPorlNvb9Bze0SB0I4ixdwo1fIUtdIkpVwNx8wnPC1hE7e1KeFHd2zZwJ4ntvw2ephGJgEsjry/B0yNZaKOd7/US8cxoRK+EMuO1XY0u5usbs2xsnGT3dYqAR2yeYO8AJYrUMyOUclPUS2OUsmVKVomhtvE31ygPXeZ1twFwtXr5LpblOiRdxxiK0srMKkbBfzaLKVDJxi+9ziFqYOE2RItv0ejVafTa9L1m9S76+y2Nun2+8SBTc6uUqvMMDlygPHaXiqFMTJmkTiylVxbQq7NO44s8ZyppN3FDu5Im0iYaIi+BoClEqVgCWgp30tRS7x5hBf6auRtR+7q0upvsbJ1g4W1q6zvzuMGDaxsSDZn4NgZsvYQQ/lxxoYmGa+MUsvmyfg9vLVFmjcu0Vu4irm1SLG3SzHuk3NssLK0A5MdI4dbnaF06AFq9x0nNzVLz7LZ6jbY2tmg3tqm4zXphk26bodu3yMOMxSzo4zV9jIzfpjJ4QNU8uM4RpEotAkDmZ1BxjZTL59OUB1YQo8GlOoOqboLsAgvlSWhAAkpVYZ7V2yo4imAxRGu76oLdzIxpuXT9rdY2b7B3OolVrZu0vV3wOpj2RLnCV/KUsrWGK9MMD0yxUS5SjkGd3WZxpWL+Mvz5JqblPsNCqFLxjQx7SzdyGLbzNGrTlI8eJTqkaNY4xPUY5+V+gYbO2vsNjZpe00iJyI0DfpuTBxmKeXHmRzZz96JI0zUDlLOjGFTVMcjFsg2LLKOiSVSlqpnon1ilwegDZxAYttMcomE+bGbGEGNCZPQQoyjgCegCW3Ri6mWikqKG/fA9IiMfgLYznXmVy6xvjuHFzexMj6R6eK7PczQpOgUKToFavkqM7UJZkpVwvVNNn/6EWNjnRGvR9ltYffaGEGI5eTwrTx1p0CzWCOz/yDlQ4fwKiXWenXWWhv0/BZ9v0mj3yK0ILKz+IH8T4FyfkLVcc/YYcYr+yk5Aph4a4c4tDQecMw05tS5D/jkgPWLZ0g5aSqAtjqtOI57US+JvQy5gLjOFLA0K6HOIA13hEpEhISGS0yfkC7tYJu13ZvMr15ibecWXtTAyonc+wR+VwFwsHAik7JTYnZ4mgPDkxhbDdZ/vIC1scVY4FPxuti9LvgBhpXBs3M0FLAhMvsOUDy0j27BYbG9wXp7ndDoEtCl5XYJbYdYvGpgJ4DlEsBEJcdK+yjaY1iUE06WklkNbe+y1Amn/P8HLDMArBm2NYA2Dck8iHYnoN0JCNOUTSphyrvoK2CR0aMX7rDWnFPAljeu0/F3FLBMLsY0feKgT9yX9E1IyS6yd3iGA8Mz2Ds9Ni9exVjdZMT1qHku+TDACCVXYtLBounkaZeGyB0QwGbpFi0W2qust1bxjZZKeC/0IFMCq4Tr2cRBjpJI2OgBZsYOM1rcR8EUwEqYMmmloCJlhjKJQcQkvE7E4W6V1ARCGgXlBirZjDpJ1kEBS4JXASyJk5WppsxMLihUwlNWHZsusdFXidruLDG/foWF1SvUO+vEVp9MwSCbjTFil8DtEvd9ClaB2doeBSzbCti9fJNgaZ1yu0vN8ykro9ZMF60wpm5l6VarFA4eoHBghnYhZqG5wlpzGd9oJFIskzQLhJTwvQwWRSqlSSZHDzE1cohaYQ85s4ZJAYMcZizs39G5DuyX2uvb4dwgT5basPSk/G0Ji1OVVHKmGS7MWP47cI+aB0oSfRICCVkkAcswhTi2abjrLG+JHbvCxu6iciMnF5PLG1iWj+91CfsueSPPzPAe9g/PUOxB+/oivbkVsrt1Kp5PzbTJWhnNPDSCkF3LwR0eoXjwANm9EzSzgQK23lzCp47pBMSmQRjlCIICxAVyTpVhoRSjBxmvHmAoN4ljVBQsIbQiZRoySTSRusGBIqqESVIhjXsSapqQ2YKqcxzHLSQGTKVIk38GluaUkoyQedtdyroLI5ZQSn7TwzCEkvTpRbtstBZYWLnCysYcze4WkemRycbYGYm+XPx+n6yZY6a2h721aaq+hbu4TvvGIvH6BkOeS82wKGYLRKZNI4yoWw7B6BiFAwewpoZpWB4LrWU2Wiv4UR07I/bOwvcsAi9L1qlRLU8yMbKXidEDDJdmyVsjmJQgFqMtKpnV2NKQLMpdweBAGZMsjOZe/o64FgahUQNh+lEiRZprEmInaeABYKKaEoRJ3CY0OSCOXeKwi2G6GHaAb3RodlZZ27zF8votdhsb9CUbYfqYGQiNEM91cYwcU9VJ9lQmGCFLvFmnc2sBf3mJYq/LEFDI5MHJ0AyhnclhTEyT3buPoFZihz4r7XV2Oht4UR0nE2FbJkEfIs+hXBxjfGSWidF9jNT2UsxP4BhVjLhAHGVAYsxBMG46tzMUaVx+m7IKQxDxUIuUgioKrRJWl7SMhvGxSpOm3+Ikq6lZ8kHaMpLzJIUTEId9Yr+tKmlkImLLxXO32dldZn1rkZ36Ou1eHTfqE1oRvhHjej62mWW0NMJkaZgJO0+206M7v0h/YY5su0khDik4ST6/E1v08yWcmf3Y03voFrJsBl02uju03F28qEnGCclYJvRjzNChNjTO5Ng+xkb2UhqaIuOMYIh0RXkFS4NyyZXJKpqWJO9STmGm0pRkJ5IUdRJ23gEsTVHXBx/HcpoY3TuHIZIl6RwBS2NOoQtiIT1wW6qOZGKwfaKgidfdotXeotXdpdtv0nY7tEKPVuDRc30drIRHtUyeyUyRahjgrS7TXbiJ09wh4/VwpBhg5+hLsFwZIb/3MExMs2uZrPW71P02bixxZBvb9MnbJnksCmaOanGY4eoU5fIkTn4U0x6CuAhhLk0BZhOwlIWnXEnuZ1kJgGaSaRUkBKzbnD+GwiCn30gFUaRLTrfTQ5OzEnj5HgRCC0QNJZUSEAY94n6TWLKmttg1nyhsE/pNoqinxNaL+nT8Pu04oh1B25VzRCFschGMZ3KM2xBsrtJduonZ2MLsNTHCCOwsgZ3HHJmifOgYjEyxGYSsdjp0JLOaFXPcx8KjYEu+3aQQW+StPLlMGSdTUbAMs4yh3rGAYRUw7DyGncOyJEeWgiQSakk4ZoMptQFLnY7YMAUtdQy3ARM5GaQ7ErAE3wAzBSuW0le/C16HyO3ieT3cXpOw1wQBTMCKPYKgo+keiSHzBUfFtBeHuE4WN5Oj40e4bkjkhsTdPsOOzXTBIdpdo7N8k6i+QdjaIZYFkjJbtkx2YpbK4RMYtQnWO33WW1082yRXymKaHmbcp2CGFMIQpx9geBFRYBKFonp5DKOAaRYxrSJmpoSZLWFlimTyRex8EcMR9bTTsl6iqrFlaz5uIGWyfvIqivYmXjLN94hmGQJYiBl7GH6fuNskaO4QtLaJu3XCbp1+c4decwu/11BbBilgkvWwIk3rFIp5sE1c08SqDuMMT+CZWYLQROKY0A0oORmGcw5Rc4vW6hy93VU6O+v4bh8nk6MwVKM8tY/y/qOYxWEa3T6Nbo/IFM8rVqJN5DfJBD3MVou41SbqeQReRBhIpjcLRg6sPIaVx3QKmE4RK1ekUBulNDqBUxzCzBYwMkVQZyPjzhGZWc25Sa5RLLcImXBEBayRsl0x8I4CJmy7pwAFu+v0t5Zwt5eJWhta4YnaOwSdHUKvBWFPvacQWmXEtomTy+Bkc4SmAGZhDCWAxbkypuTEnDKWnSdXKJPPZon7bdqbyzQ2l9jaWKLf61Aolhgbn6Q2vY/c6CymmcVtd+h22/h+j0jiyN4WkVsn43cxOy1otcELiIJYk4hJjTFDbGY1v4aVI7ZyCowzNExxZIp8bZxcZQy7PIKRr6hU45SIrLwWjwP1lonxrwwA2xYTBGQMOWJswwdJ8O2u0lu9SWPpKt21G8TNVRx3l0LcIScpZjnCPoYmmIxEvG0RZ1srO25k0MOka2cIcmWs4jCFoUkqw7MMjezBqU1AXvhRjNvYYmNtjoWlm3S7LarVKvv3H2B0ai+GhD0dl7hRx2vv0q2v09xeoF1fAm+HfOySC3wyfohmnNTzJV5PQJNiXGjaBIYjlUw8I4Nn5bAKw5TGZ6lOHSQ/tg97aBwKNchViOwSoZETw5SSLqgOqkabokkmZPWIsaWY0d+lv7VIa/k6zaVruJu3MNrrZP1dClGbXNwjg4sT++pPNJNkmoSGvLszSM+0FTT5K6uXKYySL89Qqs6QG92DMzKJUSoThi6t+gbr64v0e20qlQpjU1MUh0ZUJ/zNbXorS3Q3l1R13fYqsb9FwepTzhhkxc74IUYQac5OVEkLGVI4NjOEVobAdBS0Pg7twCCwSwrY2N77GJo6iFObxpBKe6aigXwgJkT1LVFJ4Yiqkltu4lUdKb+LhAll6O/S216mtXJDQetvzkFrDcfdUcDy9MkbPlkplyF1wWSQfiTzMwlNyR6IKti4UaiH4RSwsiNY2XGc4iTZ4RlyE3txxiexilm8oEezuY3v9Sjm8xTKZS2Z+fU23aVl2otzuFtLRJ0NDH8bJ96l6LgUHQsztoj8mCiUqlZMqN0MFoYl48gQmhl8w8LFphdbdHxTARua3MfYvvuozhwiU5vWtgScMrGopKm19UEJQNhcasOEvGscGWmHggiu4bXxW9v0thborN6ivXaL/vYCRnuDbNihZPgUTJ+sqaaRKArxwwg/kNSiqaGN1BZNYeGhSxR62E4eOzuCb9ZwzQrkRsiP7aG8Zx+5qXEo55MWhUgiihgj8PG26zQWV9lZWKC/tUrWbVA2uxSMFna4DcEusS9VK5NQcl0S8lgOpiNHBsNJ7JeHRS+EThDRDSxCu0CuMk51ej/DM/dQmtiHVRmH3BBYBTBzhCpdYmISp3i78t3VzKrET9INE0jJFVs8n9chbG/jbS3TXZ+ns34Lb3cFOjs4QYdc7Cm4pvY3RISqClLxMYl10FlV9TjoaWeOLattDdGNy3TjIlFuhOLkXkYOHKK0dwajWiTUOFVKcSb0erRX1ti6tcjuwiL+zgZ5v82w4zJk9ciEO8TeLr7n4kkLgZVX7yb3lvhSq+2WSJej6ugbNp6AYOXIlEcYGt+jR35khkxlHCM/BLaAlU0cBdIxJJwsUcncwOhLGK3FjVBixCDpg5GoQY1Hh7i1jbu5QndjXm1If3eFuL2LFXSxhFZIPkrDpiR1KQNVwCw74cxBDzvoIXW9gCKdqEDXKBGVRilP72f04EFKe6aIyg7dyNUiSy6bwXQ92ivr7C6t0VxaJdzZIttrUKFHxeyRj5vg1/F8D9fI4jslQiubcCjDVMcjKiWgxU5OOZiRK2IWhiiNTFGd2qte0irW0nxaDqShxRCPKoClJDa1YZkBD3O1vUXskDB7aSgST5lEVFIkxesStXcJm1u4u+t0NhZwt1eJug0it03gdogkEtD2gaRDRwYtVzCjgEzoIv7GMS0t9XtWhagwjD08SXF6D4WZaYxqjnbUYaO5ST/0qJRKGlOaXdEjj2C3hb+xhbe+jFHfJOc1KdIma0jWN6JvOPSMHJ5IlDid2MCLUKmKnTyZYoVCdYzi8DjZ2hiFkXFy1THMQkXZvzQCJB1Jwv4zGJaEUFLXSNP0coadBt+uUAMtOUlCLekP0t4JiS0NIbE+hmRN3Q5hr4Hb2CCobyQgtsXVN/DkO18I7CANZyh+Ei1k4oCCeGCxadkKcXEEhkawqiPY1SHCUoYmXTa7G6zsrNLzuhQKOSqFMsPZCiO5KoUwQ7DbxltZxV9fwWzvkA1aOJHElAH92KAnqieSIelq0yGSw85h5kpkyzWKtXHyIxM41RGcQkJYhagaEltGpo5Xahmm5YAcaUYwyW7FWFJlEi/p+i0sy8IUQy0mPBLjHRKHofZISPOIJV0ypGkdtw3dBrR3iRo79Bs79BS0LkEgjSFp/6KkiGJpQzHI2w65fFFth1kbx6gOExcLBKbPjtdgubXMUn2BtfoqHSmGWCbVUoX9Y/u4Z+oeJorTGH2I13dwV1cJd7cxew2VfgnV+mGIL5ItUpnJYWUKCoiAZReGyJRrZIeGMSsjIFIl9jQyMCTFI4fY3kjSWxJ/20mcqaWypHQmdtWwpGdDOhD9enKSXETcs9ADdc9JJ45lGdhSYYkDgqBHT6Vql7jbIG43CNp1+p0mnsScUlazbTLZLJlMBtt2yGYKZDKFZHASngxVMSplJD3VdOust1ZYbMyx1lqg3tvS1gMpzxWzJWZHBbCj7KnuJx8VMJsBNDrEnQ6G1yP2ekpDwkikOzErsrRitwy5Z6ZInMkTZwqQK0JW3he0KuVkstjqmESaEkOVdJiljV2aHxzUGiUhkLYK+P0trNSrRbGFHxnCAZOOlaR3ib7r0Wk1aDd3aNW38XtNbOkglDDF7agdC6ReKVVS0XfHoVAoUK7UqI1OURKXbTh03YB2GBNkDOySRWD12eqssrRzjc32Io3+Jl6Y1BjymSJTw7Mcmryf2dphcnGR3lYPd7uNE8FQMU8+axNKb6zfI9asbo9Op0e906PZD5SoWoUh7OKQqmcvNHDDWOuepaEKlcowlaEhCrmszvV2NVGlLckPDlrAJIpJymyNZZxsHitbUM/Q92MloHbG0qKqF4QsbWxz4/p11hbnae6sa7tlOWeTd0TyfIzYJ5bcVr9Pp9MmDEPK5RLTs/s5cN8JpvcfwbZyrK1vcXNhiXqvQW2qwvhslba/w/L2VbY7i+y2lnD9NtlsjkKuzMjQNPsn7mdf5QgEDreuLLM6v0YlX+LIkXuZnp4Eqav22xqT9uo7rK2uceXWAtfnl2i6AeWRSUam9qjx36q32a43NSIZHZtg//6D3HPoANPjw+RtqZilPSlhhBnFONogmGYnrLR7p19fwc7ksCWXbti4IbjCljHpdfssr29w8co15m7dxOt1qZbyTI5VGa2WKGRMpXeWdL/EIc1Gg+WlRTY2N7RjenrvAY6deJyD9x0nkytyY26Fv379HXOLc0zNjvHIz45RHDLZbS9Q7yyx3VjE9VrksnkK+bIWM2bHjjGW289uvcsXn33HpQtXGKmO8Nyzz/DAsSMamRh+B8Pt0t7dYX5hka+//xtffvcDu12Xffcc5f6HHqNYHWVzt8ny2jqLK2t0un2mJiZ45OGHePj4MWbGhrURxhbUUsAkTT+oVUpDs0qY19q4o5KmdI6a9MOIRtdnbmGFv126zOUrV2i3WoyOVLn30H4O7p1hrFoiZ4t9k8a2pLGuUd/l5q2bzM/P0XNdRidmOHriUQ4feRAzV+DC1Vuc/ug8Fy78xOTkCC++/DSH753GsNq0uivUm6v4fodsJksuV6JSnmJ86CBONMyNhWU+/PA83//tAuNj47z5i9d46vGHyQrXi3rYvku7Ifef5/wXX3L6/KfstPsK1skX/4GJ6VkarS5Lq2v88NNFLl26rIH6Iw8d56VTJ3nw6CFGy0WtiBvS4ThIzSddxTjOoBnFbyuNiISH2FlM26EXRNxY2uLMp3/lk88+Y2t7mwMH9vPkzx7nkRMPsGe8Rjkj/aRJiX3QaywNISvrKywsLrBTr5PJF5g9eC97Zg8iDeY/XLjC6T+f5buvv6eQz/HyC8/w8ktPMjtToS/xq1vX/JrQOXEUhewIGavKVt3jq29/4vTHn3L56jUmpyf59W/f4LlnnqBoWUhDuhMG9Dod5hcXOffZF3x49hz1do+HH3+KV954kwOHDqlT2G52+PrbH3jvvfe5duUKszPTvPnqK7x46mn2TY2RNU2VMiuS2FRCNemdlfGkgBF0CULpJJQUTQ7DtNhodPjqh8u8+5cz/PDjBcqVIU4++xTPPP0E9+zfw1AhS8J8pY4nyhtjGVIfDGm0G2xub1FvNjT4Hh6fYGRknI4f8s23P/L+2x/x7Zc/IJ3fzz75M373m9d49MRBDMMnjPra5Ku9sHYG28zjujaXr63y8SdfcO6zz5lfmmd67xS/+w9v8vJLJ6nmCkl0Ig0ursviyiofn/+E9z/8iO16i8eefJo3f/0bjtx7SPlmq+9z8cpN3nn7XT49f45SPs+v3niN137+Igdnp3AMU22X+E4RJDX+ptRXBx2IYT/hXUJdnRxeGHF9cY2/nPmUd/5ymrX1TR56+CHefPM1Hnv4GCOVYkI30vgzkmBZ6IRpYZmWtkO1e11ava4mfnKFPMVCiXbf5fPPv+WP/9f7/PD1BcJeyIljD/Iffv9rXjr1CEMVaa9MO7HVx0vgbrC94/LXry/z4ZmzfP7N16xtrTCzf4J//Odf8dqrLzJWrSEJaWkACIKQ5bUNzpw7z1vvvsfmzi5PPPUMv/397zh25JDGthKE35xf5f33PuD9d9/Vytiv33ydN155mQOzU5ixoYBJNcoQwKSKpo0rgx7XyCPUTmoTwzLZanX58tuf+NO7f+GTz78kVyjwyzff5FdvvsLemVEcWyrjKQ+OQ8JIym4BlmViW1IVMPGiEC8MCSSgt2Icy6brepz9+Ev+/f98m+uX5wh7MdPj07z84ou8+spzHDw4SbmU9tOm9cBOJ2ZuYZsvvvqRTz7/gh8u/Mjm7hqTe0b47R9e5403X2ZmYhJb2ynFVkesrG9x5ux5/vT222xu7/DkM0/zj3/4PQ8eTgDrhjHXbi7y3rvvc/b0GUrFPL958xe89PxJZsZHtFQk2pKxkvZ6AU1Qy4oXTRrqZNJJ4Cw5rYW1TU6f/4K33vuAH/52ganpGf7lX/4Tb77+MrWhrF5Qy3FqvyRhFyShlClCIVtbpIwCvgT08r16UZNOt8df/nyO//t/vMfOZgsjlJ4em3sPH+aFF5/hZ088wPTMkE5KJNj1IzY2ely7vsKFi9e5ePkKl69dYXVjkepIgVffeF4BO7h/HxlbTD8EYcTq2janz57jrbcEsG2efuYp/vCH33P8yD1q0Nt+wN8uXuGD9//MpZ8usGd6ijdeeYXHHz3B8FBJN5bI/eVcbSoUcxXFFLIpD9OCpcQLKHdIAAAVHElEQVTdhvSNhly9ucAHH33MB3/5iKvXbnLw0EH+23/9V9545QXyjnpcBUvEVtvL0w1S0huqtfI08BbuG6Qd1yKR9WaTd989zbtvncaI8+SyJbY2t1UyH3/iIV559RRH799LPpvwoWbb49atLa5eXWB1dZvtHfGAt7g1dw0nG/HMyUd54xcvcfToveRzeU30eUHEyuompz8+z9tvvc3W9iZPP/0U//iH33L8yGEFodHr89W333HuzFmajSYPHDvK8ydPcvjgPnKOo+AI208EQiqNIUEYU8qlgEmDbSghhWHg+iFXrt1Se3H23HmuXb/F7Ows//X/+M/88rWXKDmJFAr4onxJRkO6EgZsJenISCJPQ72SeFJxKovL67z73hm++uonpib3UakOc/naVRYWbzGzb4xXXnuep559mInhYWX6azu7XLo4x41ry9hGgVy2zK0bt/juu6/pdRscP36Y115/gccefZBKuai5dzeIWFzZ5MyZc7z91ltsbKzx6GOP8MtfvMGRw4c00SnAX7l8iYW5OUaGh3noxAmO3Xsvw1Up+srGsUhNjqMhobgz8ZaQdVIb1tMuwwQwkbDL125x+uOzfPLJZ1y9dp3pqSn+9b/8Z379xiuaP9ftLwKLbG6QQzcJpCX2dHtMUgRNtp2IJHZ6fX68dJO/fPgJSytbPPDgCcYmJ/jy26/59IvzGBmfF15+ipdfPcW9hw7p9peF1RW++/YSc9dX2TO5n4Ozh7lxbY6zZ86xsbbMoYMzvP7685x85hFGakOSiKLnRywtb3L27HneffcdVleWOHr0CC8+/zyzs3vodFqsra6ytrKEY1kK1sMnjjMxOobj2JqxSCr9iaF3xD6kH2XtNEXdTT+QxgvxMlduzPPRmbOc/+RTLl++zMTYGP/tX/+V37z5GqVsuptDq+KBXly9h17YTLusU7nTfjOUfgjD/uTLv3H23NeaYDz10kmm9kxz+pPz/Psf/52VzVs8+tSD/PJ3r/GzJ54gZ+W5Pn9Lmb0A9tgDj/Hk4z/j2sUF3vrjB8xdv87M5AhvvPE8P3/xSUZHq7oPpO9FLC9v8sknn/LB+++zuHCLvbN7eOSRhxmuVVlbW2FxYY5+t8vRI/fy+uuv8/D99+M4sr3ndlcqYSit9UIlkv44wbAwkLBOWgoXchaGEfMrG5z75DM+/Ogjfvzpb9Sqw/z2N7/hF2+8yvTEKBnb1qA0SWkn/EtTyqkKasUmbQGVa4qELW3ucPr8X/nq65+ojgzzwksnmdk7w5fffs87H7zL3y5+R7mW4+lnn+DUC6cYGxnnwoWLfP/tRUq5CieffoZ79h/g6sV53n7rz/z0/Q/kcw6vv/o8v/nly8xOjitgvi9Gf4ezZz/h7XfeZmV5kaNio049x9jYKEsL81y6eJHFxQVqlQovPH+KZ596munpKTIZW01H4Etay8RxhCYZ6kh8P2Y4n3rJQU5/kP7ZrDf469ff8t4HH/DV139V9E+dOsXrr7/G/UePMFQopH39g+7idGfuXRu47t6EI4DeWlnjvQ/PceHSNfYfOMALLz3LzN5pLl+9xblPP1G13Nxe58ChfZx87iSze2a5du0GSwurPHD0AZ57+kmGhoa4emmO99/7kC8//wLP7fPzfzjFf/rDr7hn7x7d7CCSsbq+w8dnzvOnt/7E2toqTzzxGL/4xevqDZeWlvjhhx/5/vvvNNS7//5jPHfyJA8+8ADjo1p51C4jibgzjq0SJtf0g5ixAWB9KYeHA2ph0nX76sIFsDNnz1BvNLj//vv51a9/xamTzzJeq93pZtdaQEQshlLslWWrsRRJDiNppEtasK/OL/DHd97j1twiJx46walTzzCzZ1Ind+HSZc6e+5hvv/1Ws5oPPvigAtbpdMnlcpx85iQP338YL4q5euUmpz/8mPPnz7G1tcXzp07xX/7lP3LsngPqjGQs62s7nD5zVgHb3t7h+VMn+af/+FsOH9zP1k6THy9e4ezHH/Pdd99quPPII49w6rmTnDh+lGqxQD8IcYMkvyXzkcqXeMvaQCVlZVw/0KShZUseO2J5bY3PvviCDz78CxcvXaRUKvP0s8+qaB+55xCVao1cNqv2S6tFgYixQdayNK8k77vdnm40sDJZbiws8v/86U+sb2zy3HPPcfLZJ5kYH6HZlmzIOp9+9jkffvghq2urDNeGmZic5MD+/Tz44AM8fOIEe8aHdSJz8yucO3uOjz76kOWlZZ5+6mn+93/5Zx46dq9OyvdDtWGnz3zM2++8w+7uLs89+yz/9E+/54Ejh3C9gPmVdb759ns+/+xz5ubnyOdzavwl9Hvgvns1LSWL7eliW7rRTI7yoAjix2IsfQLZaWY7OBY0uz2uXr/ORx+f4dz582xubbFn7yyPPfqYGtCDhw4xNjyivEVecgMBTOyVkFgBq75Tp93tkSsNMb+ywh/feotWu82rr77Ks089wWh1CC+KaHddvvrue/701lt88803eJ7H5OQk//Dyy/z85y9zYO8e3R0i525s7PDJ+U955923uXHjFo89+ij/2z//E088/CA5y0oAWVjl9OmPef+D99jdrfPUk8LDfsfD9x9RuyRNLfPzy/z1r19x/pPz3Jq7xfjYGCdPPsupk89wz75Zsvk8vhZAzCTjrC1VqZd0/YSRyxKZYrzTILrZavHT5ct8fO4cX3/zDVs7OwwP1zh+/DiPPvoo9xy6h7HhYU3FJBsDDA2R2q0225vbbG9v4wcBleFR1re3+fNHH6nqi2d64vFHGalIG7g42pjLc/O88977/PkvH2pmRNj/7377G1588RS1gnRIJ3nPbrvL+U8+57//j//OpUuXuP/Y/fzhd7/jhWefYrRSptf3uX5zidNnzvDhR39hd2dXVe6Xv/oljz18nEpZ9m1G9LouN+bm+OjMx5w9d1bP27tvH08/9SSPP/ooB/bvpTA0lEYuyYb/24D1vXTvo5lQUPEKg4czbO/u8tPFS3z59VdcuXqFbrdLtVbj4MGDHDp4iPHRUc3dS+hjW5ay4ka9roD1ez2NQ2sjo2zt1vnq2280E3Lq+VOcOHGcsWHZlmervVvbrfP5X7/mz3/+s6rtiePHee3Vn/PAsft0X5BogRRG/L7Lp19+xb/9278p5dm3dx8vvfA8zz39FDMT4yphN+cW+eLzz/nss89oNJscO3aUl156iYcfOs7IcFWNuSzUdr3BN9/9wKeffsq1a9fUtOzdu5fjDz7I0fvuZWpmmnKpTE7S15ZsnBlImBep2Mmuf8la9FxP9yLms9KpZ7LdaHDh0iV+uniBxYUFlQDxnFNTk9SqNVVFoRW5rLR1Q7NeV9AEyMmpaSq1mgJ249YtnGxWjf6R++5jYnyMUiGHbRipfVpM1H9zS9n5E48+QqVcVvsqKp/LOIS+x1ff/cBbb73FzRs3GK7WOHr0KI89/Ah79+zR1Pjy8go//vgjP/30ky7wgYP7ePzxxzl67Bhjo6Oah8vYFn4Ysrq2oYlEOX9+fp4gDJiZ2cN9R+7lnsP3MDk5Qa1aUdNz57kVKUkTWyQXETWScMByxONZBIGvoEkgK55pcWGReqNORuyX7Ft0XVXlcrGkn7ndHv1+j/LQEHv2zJIvFhWw7Z0dLMdhZs+MHiMjI1p8EMCl7tfqdHXwjVaTw/ccZlby9aaJL1tppPc54xAFAdfn5vjxbz+yvbWl2ZFyucz05CTjo2Oas2o0GiwtLrG8sqxEfGJijIMHDzA9Pa3URDyvSJkh/Wt9V+3cyuoKS4uL7OzuagFHONv09Axj42MKWD6b0TxZul8y2aWm4VHaoy72TJi/TEbE148jvCDQFVtfX1fvE/gBrtvH7cm2ZYtioUg2k9GCru/7lEolxsfHsaWFXJrh+n3teSiVi9r/JROVcEQ3helO6oj1zU08z9XflXI53DRTIBKcLF7Atqr8pk5WJEoO0YahoTJZJ6NOQ1Sx1Up6K8vp/UrlUgpWRu8rmRVZcQG1026zs7tDfVd29QbkczmGKkMUiyWKRSkTyh7MNKcvhUg5SXRYJEXqihLTKDcLfK1lWrath3rEMNR+BhmY2+8TBoGudDab1d+Kl5TP5FrymdQ8BYxQW6KS7KWsooCcbPqSvJMUjwM9VL1zOf1MFkkkwUlKXCptMk45RxbT83y6sqFLVDab1QUTBxREkpJJwjblUbIoei/Z8icMfrCXarDTPanDyoIIlxvsPxIV1UqSZVDKl9Ino/hSoA0UoMGzFwR1fR8L1UjAkEsLSINnVSRPF0hiriRATW4koOkENVQS75sEsLookpmVVG/K3yRol9SM73s0Gk3lgSIpMinXcxUgaWqRcEykQd7LJASIjLQzGYZKs0i7fGbL5tQ0JSPX1gUUKfJ9BcK2LS0uS2JQ0unyXiRNGnFkbklNVQrQdiIYnqd2XOxxPldIK9+ed5t8SrpP0hsyOQVA0jiOo6Iuk+/3XZUKmZAiL02/4h1FZT1ffyMXl9WW7+UzfSqBTCxIwNYBx8k95PNSsaRquL29q3aqNlzVjScCmIxFpVval+KQQDsMk6KEI5zRdvTevvS2ysOPNKZNXom2JGMbqK8AoWCIgAQhmWwCjtjpBDCxlZnEXoaRapLMVc7LSvOwbvmWLcnag5L0eKnkyCt9CFEiQGKYEzsnYp1IVbpHQvrB5Ldqb8TjWomEGYlaa4wqbcOhn6qXgJ9IsGyQktYmkXDhb6rGuax6RWFeMhmhInJvSYXrc3XSR0HoQ5FExSxTpUdAUGcl4YyZbk9OibRIYbJYIoGSxkoWTzRHJEqur+ootY1YSmrJNcSUJFpj4UjrgSaopVXprg3x2iMqT2RKJUBWUTsJxcb4iY2Ri8nKycWTtPSdB4LIuXKOVip1JZMu0WSXinTJJODKS5rsJH5M7J6ArXlutY2SGhbplusnAItEWrr6Kjn6NKnkOToC3sAByNicjKOSMZiL2rNU+gaPwBHbOPhs8EigwXcDoZFzxD6LqbCstMwmhl0nJBIljb1hqPmibqerdqFQLKqY9t2+Mm0BQ8VYG/BkRa1kYtIBZJn6V64lDF5sk0xeMnIiOTIzCarFpshvJPgdSKqocUba1cOQdrNJv9+/7YTE9vmBPHXFpFAqUSwUtOnXE08p49f7RXhuIjm5fE7bDeQ+4sllTGI7B6Bqo0wmo5RIpE8WShZGNcM06fV6ahdlzPlCQZ2UKX1jqpKpR9EOMSmTiT3Z2mZrc0N5lqRxhSJIqLS1samyKN5InwsWRXox6dYRgyvqIPxNgJPB9Xpd2u2WJhKlM1oGt7WxofXDQr6gDStifOV3cp9arabSJnxvZ2dHVU3sh4AgNk0kqVKpMjI6rPcRNe52OonaR7IYHbVFQiGqlareX+iFqJ44CbmvLHS5PEShkFdHI70gYlcFUEkyFApF5ZlyLaE/whcVtGx+UDVK2jXFOou0yIpIQ4cQOVGpibFxKkMVGo06a2trWn+UicqKC01wxEhKi6X2mJkpYAlnksE0mw0c22J0dATf81helM0LQmzLOkCxJyL2kxMTmqWQ/JmQXOF7MsFsToISdAIiMdXasFa+ZZGEpMqRPCssptls0ut2laCOjI4qvxLOWCwWlVt1ez29piyM8EBZFAF0QHOq1RpyyG/k89HRUSYmJpR827cr36nLl5UVVROxXlleZv7WnF5cUtQSgkiFZW19TaVrqFxOeFocKWB2JnkYkMSiprhqEX8x5J12GiY5TE1NEHg+83NzOqkBeZV7iNQKE5+antbry8TX1taVY+Xz8kQTtNFF3ldrVWZmZ8nnCzqx3d2dZIt1DLv1uoKkff5jozQbLQVfqIpoiYAu5LtWG6ZSGboNmKio2Ff5fHR0TIWj1WozMTHO2Pg4ubxsvxmU2fSxLL6qghhUSQbubO8oaGIjBKxqpaL6noREGQr5vKqc2BEnlS5N5Yph1kqbGOqYXq+jsaUYaUnZCF9YW1ml77ral1UqFjUVJG59uFZjZHRMUysidbtbEsB31YYKYLv1ZNVLQ2UFN5cv6HuZnKiTpJMb9QadbkdVTqRIgK/XGwqg5LnkXgJosVTS96LSYpvFsUkcLRX64ZFhXVAZo4xJzlWSLZ5XOxAlWSZ8KY7IZmTzuKHGXUATaSsXi7o6YiMkRhwYffVQUu3OJgRSWLlMVDmQuG8pxnou7WZDrykqKb8VNRBvWy4VNWDvdUVN+qrmQ5WKAqaxZUPaQF0FTF4iPa1WU+2JhE7ZXJ5ev6tSo5lRKdK2W+os5DflUol2u6OHqJ/MQXik2DzxoiK5Yu8kwyK2W76TDp1qVWytpwDKb0TrxKGIjU56XAMJuCXjFJF1EuMnfER6w8RTCMsWoykEUrlYICFT6iGFVIo6ahE4IX9CJ8Qgi5SJHet12vo7yTzISokHEmmWtInYDrfbTxbCtnUSYpvE64mnlt+rOpimSlO321HeJOospkAkM/Fy4pnR64idUyOfzdLv9VUYZDFyElEEoUptwui13SThlbInqttVSS6VRKKTuFpUVb2v51EopjzMFbIq5WwhdppilvbrWO1NFCTxmHwudinxRpLDl5SjPErGUpulJbowIX+aiJQJiKeU+EwYdByREzshZNAXGpOEUEITNFhPY887MaaB77qJF85kVHpE2mVRBBwBRK4lCyFHwqeExsgmiyTVLlIjbF48raicSorUIFKCq+RW+XnCGRNKAln1ygnd1ihGY0x5llBKK9xB46sE2fr8iiQ21H6JdDuqdLQMYkb9LiWt2q4uZFP7MiRKSB5ZIIPR3WTa+y/SmzxNKSmRJ5xPJyk9WJGw6+Q3t+8hT5IK0gBaJi+TSld9QJIH5FI4lAbwgzENAvrkGQrp5AfBy93zSALvJHJICijaNGQlTxDVcUqBOn3Wo9jhpAMx5fkDT6MlIZGeNDRKtqqlD+FRA5UCmj4yV1ZIckC3n4uULFuaLtKnoSpVGEQGkp1VsOSSuijyeMA0ekhDs7sDeu3YELXRuDWRBpFksY9yH5FcWQxtG0/BkmEmsbCAmUQpg7AtabFPFkCOJJORNp4kuCp4g+hAH5s1yHYkvTt3AqP0qSn6o3RPUnKFFPE7X6TLcvvEwSML0jvq10nIoptD0ngyif/uGuDgEZ/awXxnNQfPObv7Gjr5dLGUsUvDgzSNpPZrcK90BLfBULojZuQuyR4syO2nhN71YLUE7L8Hc/B18oS6//X6n0bg/wW6N9HN0J3gTg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0724" name="Picture 4" descr="CMR College of Pharmacy updated... - CMR College of Pharmacy"/>
          <p:cNvPicPr>
            <a:picLocks noChangeAspect="1" noChangeArrowheads="1"/>
          </p:cNvPicPr>
          <p:nvPr/>
        </p:nvPicPr>
        <p:blipFill>
          <a:blip r:embed="rId2"/>
          <a:srcRect/>
          <a:stretch>
            <a:fillRect/>
          </a:stretch>
        </p:blipFill>
        <p:spPr bwMode="auto">
          <a:xfrm>
            <a:off x="381000" y="152400"/>
            <a:ext cx="1295400" cy="1143000"/>
          </a:xfrm>
          <a:prstGeom prst="rect">
            <a:avLst/>
          </a:prstGeom>
          <a:noFill/>
        </p:spPr>
      </p:pic>
      <p:sp>
        <p:nvSpPr>
          <p:cNvPr id="30726" name="AutoShape 6" descr="CMRCET HYDERABAD - 2021 Admission Process, Ranking, Reviews, Affiliation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4DFFA99E-F018-8D26-1DF7-316E0E020E5A}"/>
              </a:ext>
            </a:extLst>
          </p:cNvPr>
          <p:cNvSpPr txBox="1"/>
          <p:nvPr/>
        </p:nvSpPr>
        <p:spPr>
          <a:xfrm>
            <a:off x="337792" y="2743200"/>
            <a:ext cx="5029200" cy="400110"/>
          </a:xfrm>
          <a:prstGeom prst="rect">
            <a:avLst/>
          </a:prstGeom>
          <a:noFill/>
        </p:spPr>
        <p:txBody>
          <a:bodyPr wrap="square" rtlCol="0">
            <a:spAutoFit/>
          </a:bodyPr>
          <a:lstStyle/>
          <a:p>
            <a:r>
              <a:rPr lang="en-US" sz="2000" b="1" dirty="0">
                <a:solidFill>
                  <a:schemeClr val="tx2">
                    <a:lumMod val="75000"/>
                  </a:schemeClr>
                </a:solidFill>
              </a:rPr>
              <a:t>Batch No.: 33</a:t>
            </a:r>
          </a:p>
        </p:txBody>
      </p:sp>
      <p:sp>
        <p:nvSpPr>
          <p:cNvPr id="7" name="TextBox 6">
            <a:extLst>
              <a:ext uri="{FF2B5EF4-FFF2-40B4-BE49-F238E27FC236}">
                <a16:creationId xmlns:a16="http://schemas.microsoft.com/office/drawing/2014/main" id="{94997AF8-6B6E-040B-FF07-B099985FAFAE}"/>
              </a:ext>
            </a:extLst>
          </p:cNvPr>
          <p:cNvSpPr txBox="1"/>
          <p:nvPr/>
        </p:nvSpPr>
        <p:spPr>
          <a:xfrm>
            <a:off x="238539" y="6229290"/>
            <a:ext cx="8753061" cy="307777"/>
          </a:xfrm>
          <a:prstGeom prst="rect">
            <a:avLst/>
          </a:prstGeom>
          <a:noFill/>
        </p:spPr>
        <p:txBody>
          <a:bodyPr wrap="square" rtlCol="0">
            <a:spAutoFit/>
          </a:bodyPr>
          <a:lstStyle/>
          <a:p>
            <a:r>
              <a:rPr lang="en-US" sz="1400" b="1" dirty="0">
                <a:solidFill>
                  <a:schemeClr val="tx2">
                    <a:lumMod val="75000"/>
                  </a:schemeClr>
                </a:solidFill>
              </a:rPr>
              <a:t>Batch: 2020-2024 			                                                             Major Project Phase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44" name="CustomShape 2"/>
          <p:cNvSpPr/>
          <p:nvPr/>
        </p:nvSpPr>
        <p:spPr>
          <a:xfrm>
            <a:off x="457200" y="457200"/>
            <a:ext cx="8381160" cy="577440"/>
          </a:xfrm>
          <a:prstGeom prst="rect">
            <a:avLst/>
          </a:prstGeom>
        </p:spPr>
        <p:txBody>
          <a:bodyPr lIns="90000" tIns="45000" rIns="90000" bIns="45000"/>
          <a:lstStyle/>
          <a:p>
            <a:pPr>
              <a:lnSpc>
                <a:spcPct val="100000"/>
              </a:lnSpc>
            </a:pPr>
            <a:r>
              <a:rPr lang="en-IN" sz="3200" b="1" dirty="0">
                <a:solidFill>
                  <a:srgbClr val="C00000"/>
                </a:solidFill>
                <a:latin typeface="Calibri"/>
              </a:rPr>
              <a:t>Outline</a:t>
            </a:r>
            <a:endParaRPr>
              <a:solidFill>
                <a:srgbClr val="C00000"/>
              </a:solidFill>
            </a:endParaRPr>
          </a:p>
        </p:txBody>
      </p:sp>
      <p:sp>
        <p:nvSpPr>
          <p:cNvPr id="45" name="CustomShape 3"/>
          <p:cNvSpPr/>
          <p:nvPr/>
        </p:nvSpPr>
        <p:spPr>
          <a:xfrm>
            <a:off x="914400" y="1639740"/>
            <a:ext cx="6477000" cy="4456260"/>
          </a:xfrm>
          <a:prstGeom prst="rect">
            <a:avLst/>
          </a:prstGeom>
        </p:spPr>
        <p:txBody>
          <a:bodyPr lIns="90000" tIns="45000" rIns="90000" bIns="45000"/>
          <a:lstStyle/>
          <a:p>
            <a:pPr>
              <a:lnSpc>
                <a:spcPct val="150000"/>
              </a:lnSpc>
              <a:buFont typeface="Arial" pitchFamily="34" charset="0"/>
              <a:buChar char="•"/>
            </a:pPr>
            <a:r>
              <a:rPr lang="en-IN" sz="2000" b="1" dirty="0">
                <a:solidFill>
                  <a:srgbClr val="000000"/>
                </a:solidFill>
                <a:latin typeface="Bookman Old Style" pitchFamily="18" charset="0"/>
              </a:rPr>
              <a:t> Abstract </a:t>
            </a:r>
          </a:p>
          <a:p>
            <a:pPr>
              <a:lnSpc>
                <a:spcPct val="150000"/>
              </a:lnSpc>
              <a:buFont typeface="Arial" pitchFamily="34" charset="0"/>
              <a:buChar char="•"/>
            </a:pPr>
            <a:r>
              <a:rPr lang="en-IN" sz="2000" b="1" dirty="0">
                <a:solidFill>
                  <a:srgbClr val="000000"/>
                </a:solidFill>
                <a:latin typeface="Bookman Old Style" pitchFamily="18" charset="0"/>
              </a:rPr>
              <a:t> Introduction </a:t>
            </a:r>
          </a:p>
          <a:p>
            <a:pPr>
              <a:lnSpc>
                <a:spcPct val="150000"/>
              </a:lnSpc>
              <a:buFont typeface="Arial"/>
              <a:buChar char="•"/>
            </a:pPr>
            <a:r>
              <a:rPr lang="en-IN" sz="2000" b="1" dirty="0">
                <a:solidFill>
                  <a:srgbClr val="000000"/>
                </a:solidFill>
                <a:latin typeface="Bookman Old Style" pitchFamily="18" charset="0"/>
              </a:rPr>
              <a:t> Research Objective </a:t>
            </a:r>
          </a:p>
          <a:p>
            <a:pPr>
              <a:lnSpc>
                <a:spcPct val="150000"/>
              </a:lnSpc>
              <a:buFont typeface="Arial" pitchFamily="34" charset="0"/>
              <a:buChar char="•"/>
            </a:pPr>
            <a:r>
              <a:rPr lang="en-IN" sz="2000" b="1" dirty="0">
                <a:solidFill>
                  <a:srgbClr val="000000"/>
                </a:solidFill>
                <a:latin typeface="Bookman Old Style" pitchFamily="18" charset="0"/>
              </a:rPr>
              <a:t> Problem Definition</a:t>
            </a:r>
          </a:p>
          <a:p>
            <a:pPr>
              <a:lnSpc>
                <a:spcPct val="150000"/>
              </a:lnSpc>
              <a:buFont typeface="Arial" pitchFamily="34" charset="0"/>
              <a:buChar char="•"/>
            </a:pPr>
            <a:r>
              <a:rPr lang="en-IN" sz="2000" b="1" dirty="0">
                <a:solidFill>
                  <a:srgbClr val="000000"/>
                </a:solidFill>
                <a:latin typeface="Bookman Old Style" pitchFamily="18" charset="0"/>
              </a:rPr>
              <a:t> Scope of the Project</a:t>
            </a:r>
          </a:p>
          <a:p>
            <a:pPr>
              <a:lnSpc>
                <a:spcPct val="150000"/>
              </a:lnSpc>
              <a:buFont typeface="Arial" pitchFamily="34" charset="0"/>
              <a:buChar char="•"/>
            </a:pPr>
            <a:r>
              <a:rPr lang="en-IN" sz="2000" b="1" dirty="0">
                <a:solidFill>
                  <a:srgbClr val="000000"/>
                </a:solidFill>
                <a:latin typeface="Bookman Old Style" pitchFamily="18" charset="0"/>
              </a:rPr>
              <a:t> Literature Review</a:t>
            </a:r>
          </a:p>
          <a:p>
            <a:pPr>
              <a:lnSpc>
                <a:spcPct val="150000"/>
              </a:lnSpc>
              <a:buFont typeface="Arial" pitchFamily="34" charset="0"/>
              <a:buChar char="•"/>
            </a:pPr>
            <a:r>
              <a:rPr lang="en-IN" sz="2000" b="1" dirty="0">
                <a:solidFill>
                  <a:srgbClr val="000000"/>
                </a:solidFill>
                <a:latin typeface="Bookman Old Style" pitchFamily="18" charset="0"/>
              </a:rPr>
              <a:t> Implementation of Existing system</a:t>
            </a:r>
          </a:p>
          <a:p>
            <a:pPr>
              <a:lnSpc>
                <a:spcPct val="150000"/>
              </a:lnSpc>
              <a:buFont typeface="Arial" pitchFamily="34" charset="0"/>
              <a:buChar char="•"/>
            </a:pPr>
            <a:r>
              <a:rPr lang="en-IN" sz="2000" b="1" dirty="0">
                <a:solidFill>
                  <a:srgbClr val="000000"/>
                </a:solidFill>
                <a:latin typeface="Bookman Old Style" pitchFamily="18" charset="0"/>
              </a:rPr>
              <a:t> Conclusion</a:t>
            </a:r>
          </a:p>
          <a:p>
            <a:pPr>
              <a:lnSpc>
                <a:spcPct val="150000"/>
              </a:lnSpc>
              <a:buFont typeface="Arial" pitchFamily="34" charset="0"/>
              <a:buChar char="•"/>
            </a:pPr>
            <a:r>
              <a:rPr lang="en-IN" sz="2000" b="1" dirty="0">
                <a:solidFill>
                  <a:srgbClr val="000000"/>
                </a:solidFill>
                <a:latin typeface="Bookman Old Style" pitchFamily="18" charset="0"/>
              </a:rPr>
              <a:t> References</a:t>
            </a:r>
            <a:r>
              <a:rPr lang="en-IN" sz="2800" b="1" dirty="0">
                <a:solidFill>
                  <a:srgbClr val="000000"/>
                </a:solidFill>
                <a:latin typeface="Calibri"/>
              </a:rPr>
              <a:t>	</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Abstract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533400" y="545068"/>
            <a:ext cx="3657600" cy="584775"/>
          </a:xfrm>
          <a:prstGeom prst="rect">
            <a:avLst/>
          </a:prstGeom>
          <a:noFill/>
        </p:spPr>
        <p:txBody>
          <a:bodyPr wrap="square" rtlCol="0">
            <a:spAutoFit/>
          </a:bodyPr>
          <a:lstStyle/>
          <a:p>
            <a:r>
              <a:rPr lang="en-US" sz="3200" b="1" dirty="0">
                <a:solidFill>
                  <a:srgbClr val="C00000"/>
                </a:solidFill>
                <a:latin typeface="Calibri" pitchFamily="34" charset="0"/>
              </a:rPr>
              <a:t>ABSTRACT</a:t>
            </a:r>
          </a:p>
        </p:txBody>
      </p:sp>
      <p:sp>
        <p:nvSpPr>
          <p:cNvPr id="2" name="TextBox 1">
            <a:extLst>
              <a:ext uri="{FF2B5EF4-FFF2-40B4-BE49-F238E27FC236}">
                <a16:creationId xmlns:a16="http://schemas.microsoft.com/office/drawing/2014/main" id="{5848DAF7-66C1-B580-43A6-7F171EE70675}"/>
              </a:ext>
            </a:extLst>
          </p:cNvPr>
          <p:cNvSpPr txBox="1"/>
          <p:nvPr/>
        </p:nvSpPr>
        <p:spPr>
          <a:xfrm>
            <a:off x="457200" y="1523999"/>
            <a:ext cx="8381160" cy="5078313"/>
          </a:xfrm>
          <a:prstGeom prst="rect">
            <a:avLst/>
          </a:prstGeom>
          <a:noFill/>
        </p:spPr>
        <p:txBody>
          <a:bodyPr wrap="square" rtlCol="0">
            <a:spAutoFit/>
          </a:bodyPr>
          <a:lstStyle/>
          <a:p>
            <a:pPr algn="just"/>
            <a:r>
              <a:rPr lang="en-US" dirty="0"/>
              <a:t>The problem statement for the proposed project, Neural Style Transfer, is to design and implement an efficient deep learning model for style transfer, aiming to combine the artistic style of one image with the content of another image(content image). </a:t>
            </a:r>
          </a:p>
          <a:p>
            <a:pPr algn="just"/>
            <a:endParaRPr lang="en-US" dirty="0"/>
          </a:p>
          <a:p>
            <a:pPr algn="just"/>
            <a:r>
              <a:rPr lang="en-US" dirty="0"/>
              <a:t>We came with a solution to design and implement an efficient deep learning model for style transfer. </a:t>
            </a:r>
          </a:p>
          <a:p>
            <a:pPr algn="just"/>
            <a:endParaRPr lang="en-US" dirty="0"/>
          </a:p>
          <a:p>
            <a:pPr algn="just"/>
            <a:r>
              <a:rPr lang="en-US" dirty="0"/>
              <a:t>This model takes a content image ‘C’ and a style image ‘S’ and merge both images to produce a new image that contains the content of image ‘C’ and the style of image ‘S’. This can be implemented by neural style transferring using deep learning which involves transferring the artistic style of one image onto the content of another, resulting in creative and visually appealing images as outputs. It will be implemented through Convolutional Neural Networks(CNNs), utilizing pre-trained models. The process involves extracting features from both content and style images through pre-trained network, pre-processing of images, optimizing a generated image to minimize content and style loss and iteratively refining the results.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CustomShape 1"/>
          <p:cNvSpPr/>
          <p:nvPr/>
        </p:nvSpPr>
        <p:spPr>
          <a:xfrm>
            <a:off x="228600" y="4267200"/>
            <a:ext cx="8381520" cy="75480"/>
          </a:xfrm>
          <a:prstGeom prst="rect">
            <a:avLst/>
          </a:prstGeom>
          <a:solidFill>
            <a:srgbClr val="7030A0"/>
          </a:solidFill>
          <a:ln w="25560">
            <a:solidFill>
              <a:srgbClr val="3A5F8B"/>
            </a:solidFill>
            <a:round/>
          </a:ln>
        </p:spPr>
        <p:txBody>
          <a:bodyPr/>
          <a:lstStyle/>
          <a:p>
            <a:endParaRPr lang="en-IN"/>
          </a:p>
        </p:txBody>
      </p:sp>
      <p:sp>
        <p:nvSpPr>
          <p:cNvPr id="47" name="CustomShape 2"/>
          <p:cNvSpPr/>
          <p:nvPr/>
        </p:nvSpPr>
        <p:spPr>
          <a:xfrm>
            <a:off x="-914400" y="3429000"/>
            <a:ext cx="1089660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a:rPr>
              <a:t>I</a:t>
            </a:r>
            <a:r>
              <a:rPr lang="en-IN" sz="3200" b="1" dirty="0">
                <a:solidFill>
                  <a:srgbClr val="000000"/>
                </a:solidFill>
                <a:latin typeface="Arial Black"/>
              </a:rPr>
              <a:t>NTRODUCTION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0" name="CustomShape 2"/>
          <p:cNvSpPr/>
          <p:nvPr/>
        </p:nvSpPr>
        <p:spPr>
          <a:xfrm>
            <a:off x="457200" y="489360"/>
            <a:ext cx="8381160" cy="577440"/>
          </a:xfrm>
          <a:prstGeom prst="rect">
            <a:avLst/>
          </a:prstGeom>
        </p:spPr>
        <p:txBody>
          <a:bodyPr lIns="90000" tIns="45000" rIns="90000" bIns="45000"/>
          <a:lstStyle/>
          <a:p>
            <a:pPr>
              <a:lnSpc>
                <a:spcPct val="100000"/>
              </a:lnSpc>
            </a:pPr>
            <a:r>
              <a:rPr lang="en-IN" sz="3200" b="1" dirty="0">
                <a:solidFill>
                  <a:srgbClr val="C00000"/>
                </a:solidFill>
              </a:rPr>
              <a:t>Introduction</a:t>
            </a:r>
            <a:endParaRPr dirty="0">
              <a:solidFill>
                <a:srgbClr val="C00000"/>
              </a:solidFill>
            </a:endParaRPr>
          </a:p>
        </p:txBody>
      </p:sp>
      <p:sp>
        <p:nvSpPr>
          <p:cNvPr id="5" name="TextBox 4"/>
          <p:cNvSpPr txBox="1"/>
          <p:nvPr/>
        </p:nvSpPr>
        <p:spPr>
          <a:xfrm>
            <a:off x="304800" y="1447800"/>
            <a:ext cx="7620000" cy="369332"/>
          </a:xfrm>
          <a:prstGeom prst="rect">
            <a:avLst/>
          </a:prstGeom>
          <a:noFill/>
        </p:spPr>
        <p:txBody>
          <a:bodyPr wrap="square" rtlCol="0">
            <a:spAutoFit/>
          </a:bodyPr>
          <a:lstStyle/>
          <a:p>
            <a:endParaRPr lang="en-US"/>
          </a:p>
        </p:txBody>
      </p:sp>
      <p:sp>
        <p:nvSpPr>
          <p:cNvPr id="2" name="TextBox 1">
            <a:extLst>
              <a:ext uri="{FF2B5EF4-FFF2-40B4-BE49-F238E27FC236}">
                <a16:creationId xmlns:a16="http://schemas.microsoft.com/office/drawing/2014/main" id="{BBBFEACE-FA73-C0AD-2E3D-454DD1836AEE}"/>
              </a:ext>
            </a:extLst>
          </p:cNvPr>
          <p:cNvSpPr txBox="1"/>
          <p:nvPr/>
        </p:nvSpPr>
        <p:spPr>
          <a:xfrm>
            <a:off x="609600" y="1817132"/>
            <a:ext cx="8228760" cy="3693319"/>
          </a:xfrm>
          <a:prstGeom prst="rect">
            <a:avLst/>
          </a:prstGeom>
          <a:noFill/>
        </p:spPr>
        <p:txBody>
          <a:bodyPr wrap="square" rtlCol="0">
            <a:spAutoFit/>
          </a:bodyPr>
          <a:lstStyle/>
          <a:p>
            <a:pPr marL="285750" indent="-285750" algn="just">
              <a:buFont typeface="Arial" panose="020B0604020202020204" pitchFamily="34" charset="0"/>
              <a:buChar char="•"/>
            </a:pPr>
            <a:r>
              <a:rPr lang="en-US" dirty="0"/>
              <a:t>In this project, we will explore neural style transfer using deep learning. The neural style transfer involves taking a content image C and a style image P and combine them to produce a new image that has the content of C and the style of P.</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Style transfer is a fascinating field that combines art and technology, allowing us to transform the visual appearance of images in creative and unique ways.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 this project, we explore the neural networks and deep learning to seamlessly blend the artistic style of one image with the content of another, producing captivating and eye-catching results. </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pitchFamily="34" charset="0"/>
              </a:rPr>
              <a:t>Research Objective </a:t>
            </a:r>
          </a:p>
          <a:p>
            <a:pPr algn="r">
              <a:lnSpc>
                <a:spcPct val="100000"/>
              </a:lnSpc>
            </a:pPr>
            <a:r>
              <a:rPr lang="en-IN" sz="4400" b="1" dirty="0">
                <a:solidFill>
                  <a:srgbClr val="000000"/>
                </a:solidFill>
                <a:latin typeface="Arial Black" pitchFamily="34" charset="0"/>
              </a:rPr>
              <a:t> </a:t>
            </a:r>
            <a:endParaRPr>
              <a:latin typeface="Arial Black" pitchFamily="34" charset="0"/>
            </a:endParaRPr>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7" name="TextBox 6"/>
          <p:cNvSpPr txBox="1"/>
          <p:nvPr/>
        </p:nvSpPr>
        <p:spPr>
          <a:xfrm>
            <a:off x="304800" y="457200"/>
            <a:ext cx="4648200" cy="584775"/>
          </a:xfrm>
          <a:prstGeom prst="rect">
            <a:avLst/>
          </a:prstGeom>
          <a:noFill/>
        </p:spPr>
        <p:txBody>
          <a:bodyPr wrap="square" rtlCol="0">
            <a:spAutoFit/>
          </a:bodyPr>
          <a:lstStyle/>
          <a:p>
            <a:r>
              <a:rPr lang="en-US" sz="3200" b="1" dirty="0">
                <a:solidFill>
                  <a:srgbClr val="C00000"/>
                </a:solidFill>
                <a:latin typeface="+mj-lt"/>
              </a:rPr>
              <a:t>Research objective</a:t>
            </a:r>
          </a:p>
        </p:txBody>
      </p:sp>
      <p:sp>
        <p:nvSpPr>
          <p:cNvPr id="2" name="TextBox 1">
            <a:extLst>
              <a:ext uri="{FF2B5EF4-FFF2-40B4-BE49-F238E27FC236}">
                <a16:creationId xmlns:a16="http://schemas.microsoft.com/office/drawing/2014/main" id="{D40707DC-F824-5ACB-EB60-C5E63A9C6D0C}"/>
              </a:ext>
            </a:extLst>
          </p:cNvPr>
          <p:cNvSpPr txBox="1"/>
          <p:nvPr/>
        </p:nvSpPr>
        <p:spPr>
          <a:xfrm>
            <a:off x="457200" y="1600200"/>
            <a:ext cx="8381160" cy="4801314"/>
          </a:xfrm>
          <a:prstGeom prst="rect">
            <a:avLst/>
          </a:prstGeom>
          <a:noFill/>
        </p:spPr>
        <p:txBody>
          <a:bodyPr wrap="square" rtlCol="0">
            <a:spAutoFit/>
          </a:bodyPr>
          <a:lstStyle/>
          <a:p>
            <a:pPr algn="just"/>
            <a:r>
              <a:rPr lang="en-IN" b="1" dirty="0"/>
              <a:t>Research Objective for Neural style transfer:</a:t>
            </a:r>
          </a:p>
          <a:p>
            <a:pPr algn="just"/>
            <a:endParaRPr lang="en-IN" b="1" dirty="0"/>
          </a:p>
          <a:p>
            <a:pPr marL="285750" indent="-285750" algn="just">
              <a:buFont typeface="Arial" panose="020B0604020202020204" pitchFamily="34" charset="0"/>
              <a:buChar char="•"/>
            </a:pPr>
            <a:r>
              <a:rPr lang="en-US" dirty="0"/>
              <a:t>Developing Algorithm: Develop a style transfer algorithms which is an enhancement of existing ones to improve the quality of style transfer operations.</a:t>
            </a:r>
          </a:p>
          <a:p>
            <a:pPr marL="285750" indent="-285750" algn="just">
              <a:buFont typeface="Arial" panose="020B0604020202020204" pitchFamily="34" charset="0"/>
              <a:buChar char="•"/>
            </a:pPr>
            <a:r>
              <a:rPr lang="en-US" dirty="0"/>
              <a:t>Real-Time Processing: Optimize style transfer algorithms for real-time or near-real-time performance, which enables applications like live video processing.</a:t>
            </a:r>
          </a:p>
          <a:p>
            <a:pPr algn="just"/>
            <a:endParaRPr lang="en-US" dirty="0"/>
          </a:p>
          <a:p>
            <a:pPr marL="285750" indent="-285750" algn="just">
              <a:buFont typeface="Arial" panose="020B0604020202020204" pitchFamily="34" charset="0"/>
              <a:buChar char="•"/>
            </a:pPr>
            <a:r>
              <a:rPr lang="en-US" dirty="0"/>
              <a:t>User Interaction: Develop user-friendly interfaces that allow users to interactively control and customize the style transfer process.</a:t>
            </a:r>
          </a:p>
          <a:p>
            <a:pPr algn="just"/>
            <a:endParaRPr lang="en-US" dirty="0"/>
          </a:p>
          <a:p>
            <a:pPr marL="285750" indent="-285750" algn="just">
              <a:buFont typeface="Arial" panose="020B0604020202020204" pitchFamily="34" charset="0"/>
              <a:buChar char="•"/>
            </a:pPr>
            <a:r>
              <a:rPr lang="en-US" dirty="0"/>
              <a:t>Multimodal Style Transfer: Extend style transfer capabilities to handle multiple modalities, such as transferring the style of music or text onto images.</a:t>
            </a:r>
          </a:p>
          <a:p>
            <a:pPr algn="just"/>
            <a:endParaRPr lang="en-US" dirty="0"/>
          </a:p>
          <a:p>
            <a:pPr marL="285750" indent="-285750" algn="just">
              <a:buFont typeface="Arial" panose="020B0604020202020204" pitchFamily="34" charset="0"/>
              <a:buChar char="•"/>
            </a:pPr>
            <a:r>
              <a:rPr lang="en-US" dirty="0"/>
              <a:t>Applications and Use Cases: look into more practical applications of style transfer.</a:t>
            </a: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74080"/>
            <a:ext cx="8152560" cy="760320"/>
          </a:xfrm>
          <a:prstGeom prst="rect">
            <a:avLst/>
          </a:prstGeom>
        </p:spPr>
        <p:txBody>
          <a:bodyPr lIns="90000" tIns="45000" rIns="90000" bIns="45000"/>
          <a:lstStyle/>
          <a:p>
            <a:pPr algn="ctr">
              <a:lnSpc>
                <a:spcPct val="100000"/>
              </a:lnSpc>
            </a:pPr>
            <a:r>
              <a:rPr lang="en-IN" sz="4400" b="1" dirty="0">
                <a:solidFill>
                  <a:srgbClr val="000000"/>
                </a:solidFill>
                <a:latin typeface="Arial Black" pitchFamily="34" charset="0"/>
              </a:rPr>
              <a:t>Problem Definition </a:t>
            </a:r>
            <a:endParaRPr dirty="0">
              <a:latin typeface="Arial Black" pitchFamily="34" charset="0"/>
            </a:endParaRPr>
          </a:p>
        </p:txBody>
      </p:sp>
      <p:sp>
        <p:nvSpPr>
          <p:cNvPr id="84" name="CustomShape 3"/>
          <p:cNvSpPr/>
          <p:nvPr/>
        </p:nvSpPr>
        <p:spPr>
          <a:xfrm>
            <a:off x="685800" y="135780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3962400" cy="584775"/>
          </a:xfrm>
          <a:prstGeom prst="rect">
            <a:avLst/>
          </a:prstGeom>
          <a:noFill/>
        </p:spPr>
        <p:txBody>
          <a:bodyPr wrap="square" rtlCol="0">
            <a:spAutoFit/>
          </a:bodyPr>
          <a:lstStyle/>
          <a:p>
            <a:r>
              <a:rPr lang="en-US" sz="3200" b="1" dirty="0">
                <a:solidFill>
                  <a:srgbClr val="C00000"/>
                </a:solidFill>
                <a:latin typeface="Calibri" pitchFamily="34" charset="0"/>
              </a:rPr>
              <a:t>Problem Definition</a:t>
            </a:r>
          </a:p>
        </p:txBody>
      </p:sp>
      <p:sp>
        <p:nvSpPr>
          <p:cNvPr id="2" name="TextBox 1">
            <a:extLst>
              <a:ext uri="{FF2B5EF4-FFF2-40B4-BE49-F238E27FC236}">
                <a16:creationId xmlns:a16="http://schemas.microsoft.com/office/drawing/2014/main" id="{76FDF764-B4DE-B7D3-57A9-6BA5B4541159}"/>
              </a:ext>
            </a:extLst>
          </p:cNvPr>
          <p:cNvSpPr txBox="1"/>
          <p:nvPr/>
        </p:nvSpPr>
        <p:spPr>
          <a:xfrm>
            <a:off x="457200" y="1828800"/>
            <a:ext cx="8381160" cy="2585323"/>
          </a:xfrm>
          <a:prstGeom prst="rect">
            <a:avLst/>
          </a:prstGeom>
          <a:noFill/>
        </p:spPr>
        <p:txBody>
          <a:bodyPr wrap="square" rtlCol="0">
            <a:spAutoFit/>
          </a:bodyPr>
          <a:lstStyle/>
          <a:p>
            <a:pPr algn="just"/>
            <a:r>
              <a:rPr lang="en-US" dirty="0"/>
              <a:t>In the dominance of digital media and creative content generation, there is a growing need for automated tools that can seamlessly blend the artistic style of one image with the content of another. The problem at hand is to develop a robust and efficient style transfer algorithm capable of preserving the content of an input image while applying the desired artistic style from a reference image. This project aims to address the challenges of creating a user-friendly, real-time style transfer solution that produces high-quality results across various domains, including art, photography, and graphic design.</a:t>
            </a:r>
            <a:endParaRPr lang="en-IN" dirty="0"/>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IN" sz="4400" b="1" dirty="0">
                <a:solidFill>
                  <a:srgbClr val="000000"/>
                </a:solidFill>
                <a:latin typeface="Arial Black"/>
              </a:rPr>
              <a:t>Scope of the Project</a:t>
            </a:r>
            <a:endParaRPr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p:cNvSpPr txBox="1"/>
          <p:nvPr/>
        </p:nvSpPr>
        <p:spPr>
          <a:xfrm>
            <a:off x="304800" y="457200"/>
            <a:ext cx="4267200" cy="523220"/>
          </a:xfrm>
          <a:prstGeom prst="rect">
            <a:avLst/>
          </a:prstGeom>
          <a:noFill/>
        </p:spPr>
        <p:txBody>
          <a:bodyPr wrap="square" rtlCol="0">
            <a:spAutoFit/>
          </a:bodyPr>
          <a:lstStyle/>
          <a:p>
            <a:pPr algn="r">
              <a:lnSpc>
                <a:spcPct val="100000"/>
              </a:lnSpc>
            </a:pPr>
            <a:r>
              <a:rPr lang="en-IN" sz="2800" b="1" dirty="0">
                <a:solidFill>
                  <a:srgbClr val="FF0000"/>
                </a:solidFill>
                <a:latin typeface="+mj-lt"/>
              </a:rPr>
              <a:t>Scope of the Project</a:t>
            </a:r>
            <a:endParaRPr lang="en-IN" sz="2800" dirty="0">
              <a:solidFill>
                <a:srgbClr val="FF0000"/>
              </a:solidFill>
              <a:latin typeface="+mj-lt"/>
            </a:endParaRPr>
          </a:p>
        </p:txBody>
      </p:sp>
      <p:sp>
        <p:nvSpPr>
          <p:cNvPr id="2" name="TextBox 1">
            <a:extLst>
              <a:ext uri="{FF2B5EF4-FFF2-40B4-BE49-F238E27FC236}">
                <a16:creationId xmlns:a16="http://schemas.microsoft.com/office/drawing/2014/main" id="{B6E7AC78-4CD0-2E0C-0F7C-6F8D516A43F4}"/>
              </a:ext>
            </a:extLst>
          </p:cNvPr>
          <p:cNvSpPr txBox="1"/>
          <p:nvPr/>
        </p:nvSpPr>
        <p:spPr>
          <a:xfrm>
            <a:off x="304800" y="1447800"/>
            <a:ext cx="8533560" cy="4247317"/>
          </a:xfrm>
          <a:prstGeom prst="rect">
            <a:avLst/>
          </a:prstGeom>
          <a:noFill/>
        </p:spPr>
        <p:txBody>
          <a:bodyPr wrap="square" rtlCol="0">
            <a:spAutoFit/>
          </a:bodyPr>
          <a:lstStyle/>
          <a:p>
            <a:pPr algn="just"/>
            <a:r>
              <a:rPr lang="en-US" b="1" dirty="0"/>
              <a:t>The scope of a project on neural style transfer:</a:t>
            </a:r>
          </a:p>
          <a:p>
            <a:pPr algn="just"/>
            <a:endParaRPr lang="en-US" dirty="0"/>
          </a:p>
          <a:p>
            <a:pPr algn="just"/>
            <a:r>
              <a:rPr lang="en-US" dirty="0"/>
              <a:t>Image Transformation: This project involves using neural networks to transform one image(content image) into the artistic style of another image, called the style image. </a:t>
            </a:r>
          </a:p>
          <a:p>
            <a:pPr algn="just"/>
            <a:endParaRPr lang="en-US" dirty="0"/>
          </a:p>
          <a:p>
            <a:pPr algn="just"/>
            <a:r>
              <a:rPr lang="en-US" dirty="0"/>
              <a:t>Style Transfer Techniques: The project should explore and potentially develop various style transfer techniques or more advanced methods, to achieve the desired artistic effects. </a:t>
            </a:r>
          </a:p>
          <a:p>
            <a:pPr algn="just"/>
            <a:endParaRPr lang="en-US" dirty="0"/>
          </a:p>
          <a:p>
            <a:pPr algn="just"/>
            <a:r>
              <a:rPr lang="en-US" dirty="0"/>
              <a:t>Applications and Evaluation: This project should consider potential applications, such as transforming photos into artistic styles, video processing, or enhancing design in graphics and visual content. </a:t>
            </a:r>
          </a:p>
          <a:p>
            <a:endParaRPr lang="en-US" dirty="0"/>
          </a:p>
          <a:p>
            <a:endParaRPr lang="en-US" dirty="0"/>
          </a:p>
        </p:txBody>
      </p:sp>
    </p:spTree>
    <p:extLst>
      <p:ext uri="{BB962C8B-B14F-4D97-AF65-F5344CB8AC3E}">
        <p14:creationId xmlns:p14="http://schemas.microsoft.com/office/powerpoint/2010/main" val="189659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CustomShape 1"/>
          <p:cNvSpPr/>
          <p:nvPr/>
        </p:nvSpPr>
        <p:spPr>
          <a:xfrm>
            <a:off x="533520" y="4267080"/>
            <a:ext cx="8076600" cy="75600"/>
          </a:xfrm>
          <a:prstGeom prst="rect">
            <a:avLst/>
          </a:prstGeom>
          <a:solidFill>
            <a:srgbClr val="7030A0"/>
          </a:solidFill>
          <a:ln w="25560">
            <a:solidFill>
              <a:srgbClr val="3A5F8B"/>
            </a:solidFill>
            <a:round/>
          </a:ln>
        </p:spPr>
        <p:txBody>
          <a:bodyPr/>
          <a:lstStyle/>
          <a:p>
            <a:endParaRPr lang="en-IN"/>
          </a:p>
        </p:txBody>
      </p:sp>
      <p:sp>
        <p:nvSpPr>
          <p:cNvPr id="83" name="CustomShape 2"/>
          <p:cNvSpPr/>
          <p:nvPr/>
        </p:nvSpPr>
        <p:spPr>
          <a:xfrm>
            <a:off x="457200" y="3581400"/>
            <a:ext cx="8152560" cy="760320"/>
          </a:xfrm>
          <a:prstGeom prst="rect">
            <a:avLst/>
          </a:prstGeom>
        </p:spPr>
        <p:txBody>
          <a:bodyPr lIns="90000" tIns="45000" rIns="90000" bIns="45000"/>
          <a:lstStyle/>
          <a:p>
            <a:pPr algn="r">
              <a:lnSpc>
                <a:spcPct val="100000"/>
              </a:lnSpc>
            </a:pPr>
            <a:r>
              <a:rPr lang="en-US" sz="2800" b="1" dirty="0"/>
              <a:t>Literature Review</a:t>
            </a:r>
            <a:endParaRPr sz="2800" b="1" dirty="0"/>
          </a:p>
        </p:txBody>
      </p:sp>
      <p:sp>
        <p:nvSpPr>
          <p:cNvPr id="84" name="CustomShape 3"/>
          <p:cNvSpPr/>
          <p:nvPr/>
        </p:nvSpPr>
        <p:spPr>
          <a:xfrm>
            <a:off x="685800" y="1295280"/>
            <a:ext cx="7619400" cy="775800"/>
          </a:xfrm>
          <a:prstGeom prst="rect">
            <a:avLst/>
          </a:prstGeom>
        </p:spPr>
        <p:txBody>
          <a:bodyPr lIns="90000" tIns="45000" rIns="90000" bIns="45000"/>
          <a:lstStyle/>
          <a:p>
            <a:pPr>
              <a:lnSpc>
                <a:spcPct val="150000"/>
              </a:lnSpc>
            </a:pPr>
            <a:endParaRPr/>
          </a:p>
          <a:p>
            <a:pPr>
              <a:lnSpc>
                <a:spcPct val="100000"/>
              </a:lnSpc>
            </a:pPr>
            <a:endParaRPr/>
          </a:p>
        </p:txBody>
      </p:sp>
    </p:spTree>
    <p:extLst>
      <p:ext uri="{BB962C8B-B14F-4D97-AF65-F5344CB8AC3E}">
        <p14:creationId xmlns:p14="http://schemas.microsoft.com/office/powerpoint/2010/main" val="4277705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C7B0E5F3-E63A-E40C-3B4F-FF4E3A18651B}"/>
              </a:ext>
            </a:extLst>
          </p:cNvPr>
          <p:cNvGraphicFramePr>
            <a:graphicFrameLocks noGrp="1"/>
          </p:cNvGraphicFramePr>
          <p:nvPr>
            <p:extLst>
              <p:ext uri="{D42A27DB-BD31-4B8C-83A1-F6EECF244321}">
                <p14:modId xmlns:p14="http://schemas.microsoft.com/office/powerpoint/2010/main" val="895558221"/>
              </p:ext>
            </p:extLst>
          </p:nvPr>
        </p:nvGraphicFramePr>
        <p:xfrm>
          <a:off x="0" y="451726"/>
          <a:ext cx="9143999" cy="6406273"/>
        </p:xfrm>
        <a:graphic>
          <a:graphicData uri="http://schemas.openxmlformats.org/drawingml/2006/table">
            <a:tbl>
              <a:tblPr firstRow="1" bandRow="1">
                <a:tableStyleId>{5C22544A-7EE6-4342-B048-85BDC9FD1C3A}</a:tableStyleId>
              </a:tblPr>
              <a:tblGrid>
                <a:gridCol w="326810">
                  <a:extLst>
                    <a:ext uri="{9D8B030D-6E8A-4147-A177-3AD203B41FA5}">
                      <a16:colId xmlns:a16="http://schemas.microsoft.com/office/drawing/2014/main" val="432745929"/>
                    </a:ext>
                  </a:extLst>
                </a:gridCol>
                <a:gridCol w="1411075">
                  <a:extLst>
                    <a:ext uri="{9D8B030D-6E8A-4147-A177-3AD203B41FA5}">
                      <a16:colId xmlns:a16="http://schemas.microsoft.com/office/drawing/2014/main" val="1998233565"/>
                    </a:ext>
                  </a:extLst>
                </a:gridCol>
                <a:gridCol w="1767315">
                  <a:extLst>
                    <a:ext uri="{9D8B030D-6E8A-4147-A177-3AD203B41FA5}">
                      <a16:colId xmlns:a16="http://schemas.microsoft.com/office/drawing/2014/main" val="3760181125"/>
                    </a:ext>
                  </a:extLst>
                </a:gridCol>
                <a:gridCol w="1981200">
                  <a:extLst>
                    <a:ext uri="{9D8B030D-6E8A-4147-A177-3AD203B41FA5}">
                      <a16:colId xmlns:a16="http://schemas.microsoft.com/office/drawing/2014/main" val="1470764825"/>
                    </a:ext>
                  </a:extLst>
                </a:gridCol>
                <a:gridCol w="2209800">
                  <a:extLst>
                    <a:ext uri="{9D8B030D-6E8A-4147-A177-3AD203B41FA5}">
                      <a16:colId xmlns:a16="http://schemas.microsoft.com/office/drawing/2014/main" val="3423994347"/>
                    </a:ext>
                  </a:extLst>
                </a:gridCol>
                <a:gridCol w="1447799">
                  <a:extLst>
                    <a:ext uri="{9D8B030D-6E8A-4147-A177-3AD203B41FA5}">
                      <a16:colId xmlns:a16="http://schemas.microsoft.com/office/drawing/2014/main" val="635663868"/>
                    </a:ext>
                  </a:extLst>
                </a:gridCol>
              </a:tblGrid>
              <a:tr h="836130">
                <a:tc>
                  <a:txBody>
                    <a:bodyPr/>
                    <a:lstStyle/>
                    <a:p>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Name of the Proposed solution/Method</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Solution </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2694197">
                <a:tc>
                  <a:txBody>
                    <a:bodyPr/>
                    <a:lstStyle/>
                    <a:p>
                      <a:r>
                        <a:rPr lang="en-US" dirty="0"/>
                        <a:t>1</a:t>
                      </a:r>
                      <a:endParaRPr lang="en-IN" dirty="0"/>
                    </a:p>
                  </a:txBody>
                  <a:tcPr/>
                </a:tc>
                <a:tc>
                  <a:txBody>
                    <a:bodyPr/>
                    <a:lstStyle/>
                    <a:p>
                      <a:r>
                        <a:rPr lang="en-IN" sz="1200" dirty="0"/>
                        <a:t>Leon A. </a:t>
                      </a:r>
                      <a:r>
                        <a:rPr lang="en-IN" sz="1200" dirty="0" err="1"/>
                        <a:t>Gatys</a:t>
                      </a:r>
                      <a:r>
                        <a:rPr lang="en-IN" sz="1200" dirty="0"/>
                        <a:t>, Alexander S. Ecker, Matthias </a:t>
                      </a:r>
                      <a:r>
                        <a:rPr lang="en-IN" sz="1200" dirty="0" err="1"/>
                        <a:t>Bethge</a:t>
                      </a:r>
                      <a:r>
                        <a:rPr lang="en-IN" sz="1200" dirty="0"/>
                        <a:t>, IEEE, 2 Sep 2015.</a:t>
                      </a:r>
                    </a:p>
                    <a:p>
                      <a:endParaRPr lang="en-IN" dirty="0"/>
                    </a:p>
                  </a:txBody>
                  <a:tcPr/>
                </a:tc>
                <a:tc>
                  <a:txBody>
                    <a:bodyPr/>
                    <a:lstStyle/>
                    <a:p>
                      <a:r>
                        <a:rPr lang="en-US" sz="1200" dirty="0"/>
                        <a:t>In fine art, especially painting, humans have mastered the skill to create unique visual experiences through composing a complex interplay between the content and style of an image. Thus far the algorithmic basis of this process is unknown and there exists no artificial system with similar capabilities. </a:t>
                      </a:r>
                      <a:endParaRPr lang="en-IN" sz="1200" dirty="0"/>
                    </a:p>
                  </a:txBody>
                  <a:tcPr/>
                </a:tc>
                <a:tc>
                  <a:txBody>
                    <a:bodyPr/>
                    <a:lstStyle/>
                    <a:p>
                      <a:r>
                        <a:rPr lang="en-US" sz="1200" dirty="0"/>
                        <a:t>A Neural Algorithm of Artistic Style</a:t>
                      </a:r>
                      <a:endParaRPr lang="en-IN" sz="1200" dirty="0"/>
                    </a:p>
                  </a:txBody>
                  <a:tcPr/>
                </a:tc>
                <a:tc>
                  <a:txBody>
                    <a:bodyPr/>
                    <a:lstStyle/>
                    <a:p>
                      <a:r>
                        <a:rPr lang="en-US" sz="1200" dirty="0"/>
                        <a:t>Here we introduce an</a:t>
                      </a:r>
                    </a:p>
                    <a:p>
                      <a:r>
                        <a:rPr lang="en-US" sz="1200" dirty="0"/>
                        <a:t>artificial system based on a Deep Neural Network that creates artistic images of high perceptual quality. The system uses neural representations to separate and recombine content and style of arbitrary images, providing a neural algorithm for the creation of artistic images.</a:t>
                      </a:r>
                      <a:endParaRPr lang="en-IN" sz="1200" dirty="0"/>
                    </a:p>
                  </a:txBody>
                  <a:tcPr/>
                </a:tc>
                <a:tc>
                  <a:txBody>
                    <a:bodyPr/>
                    <a:lstStyle/>
                    <a:p>
                      <a:r>
                        <a:rPr lang="en-IN" sz="1200" dirty="0"/>
                        <a:t>High computational cost, limited control, and </a:t>
                      </a:r>
                      <a:r>
                        <a:rPr lang="en-IN" sz="1200" dirty="0" err="1"/>
                        <a:t>artifiacts</a:t>
                      </a:r>
                      <a:r>
                        <a:rPr lang="en-IN" sz="1200" dirty="0"/>
                        <a:t>.</a:t>
                      </a:r>
                    </a:p>
                  </a:txBody>
                  <a:tcPr/>
                </a:tc>
                <a:extLst>
                  <a:ext uri="{0D108BD9-81ED-4DB2-BD59-A6C34878D82A}">
                    <a16:rowId xmlns:a16="http://schemas.microsoft.com/office/drawing/2014/main" val="3097843794"/>
                  </a:ext>
                </a:extLst>
              </a:tr>
              <a:tr h="2875946">
                <a:tc>
                  <a:txBody>
                    <a:bodyPr/>
                    <a:lstStyle/>
                    <a:p>
                      <a:r>
                        <a:rPr lang="en-US" dirty="0"/>
                        <a:t>2</a:t>
                      </a:r>
                      <a:endParaRPr lang="en-IN" dirty="0"/>
                    </a:p>
                  </a:txBody>
                  <a:tcPr/>
                </a:tc>
                <a:tc>
                  <a:txBody>
                    <a:bodyPr/>
                    <a:lstStyle/>
                    <a:p>
                      <a:r>
                        <a:rPr lang="en-IN" sz="1200" dirty="0"/>
                        <a:t>Jun-Yan Zhu, </a:t>
                      </a:r>
                      <a:r>
                        <a:rPr lang="en-IN" sz="1200" dirty="0" err="1"/>
                        <a:t>Taesung</a:t>
                      </a:r>
                      <a:r>
                        <a:rPr lang="en-IN" sz="1200" dirty="0"/>
                        <a:t> Park, Phillip Isola, Alexei A. </a:t>
                      </a:r>
                      <a:r>
                        <a:rPr lang="en-IN" sz="1200" dirty="0" err="1"/>
                        <a:t>Efros</a:t>
                      </a:r>
                      <a:r>
                        <a:rPr lang="en-IN" sz="1200" dirty="0"/>
                        <a:t>, IEEE, 24 Aug 2020</a:t>
                      </a:r>
                    </a:p>
                  </a:txBody>
                  <a:tcPr/>
                </a:tc>
                <a:tc>
                  <a:txBody>
                    <a:bodyPr/>
                    <a:lstStyle/>
                    <a:p>
                      <a:r>
                        <a:rPr lang="en-US" sz="1200" dirty="0"/>
                        <a:t>Image-to-image translation is a class of vision and graphics problems where the goal is to learn the mapping between an input image and an output image using a training set of aligned image pairs. However, for many tasks, paired training data will not be available.</a:t>
                      </a:r>
                      <a:endParaRPr lang="en-IN" sz="1200" dirty="0"/>
                    </a:p>
                  </a:txBody>
                  <a:tcPr/>
                </a:tc>
                <a:tc>
                  <a:txBody>
                    <a:bodyPr/>
                    <a:lstStyle/>
                    <a:p>
                      <a:r>
                        <a:rPr lang="en-US" sz="1200" dirty="0"/>
                        <a:t>Unpaired Image-to-Image Translation</a:t>
                      </a:r>
                    </a:p>
                    <a:p>
                      <a:r>
                        <a:rPr lang="en-US" sz="1200" dirty="0"/>
                        <a:t>using Cycle-Consistent Adversarial Networks</a:t>
                      </a:r>
                      <a:endParaRPr lang="en-IN" sz="1200" dirty="0"/>
                    </a:p>
                  </a:txBody>
                  <a:tcPr/>
                </a:tc>
                <a:tc>
                  <a:txBody>
                    <a:bodyPr/>
                    <a:lstStyle/>
                    <a:p>
                      <a:r>
                        <a:rPr lang="en-US" sz="1100" dirty="0"/>
                        <a:t>We present an approach for learning to translate an image from a domain X to a target domain Y in the absence of paired examples. Our goal is to learn a mapping G : X → Y such that the distribution of images from G(X) is indistinguishable from the distribution Y using an adversarial loss. Because this mapping is highly under-constrained, we couple it with an inverse mapping F : Y → X and introduce a cycle consistency loss to enforce F(G(X)) ≈ X.</a:t>
                      </a:r>
                      <a:endParaRPr lang="en-IN" sz="1100" dirty="0"/>
                    </a:p>
                  </a:txBody>
                  <a:tcPr/>
                </a:tc>
                <a:tc>
                  <a:txBody>
                    <a:bodyPr/>
                    <a:lstStyle/>
                    <a:p>
                      <a:pPr marL="0" indent="0">
                        <a:buFont typeface="Arial" panose="020B0604020202020204" pitchFamily="34" charset="0"/>
                        <a:buNone/>
                      </a:pPr>
                      <a:r>
                        <a:rPr lang="en-IN" sz="1200" dirty="0"/>
                        <a:t>Lack of fine grained control, generation of unrealistic results in complex scenarios.</a:t>
                      </a:r>
                    </a:p>
                  </a:txBody>
                  <a:tcPr/>
                </a:tc>
                <a:extLst>
                  <a:ext uri="{0D108BD9-81ED-4DB2-BD59-A6C34878D82A}">
                    <a16:rowId xmlns:a16="http://schemas.microsoft.com/office/drawing/2014/main" val="3396774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939" y="-9939"/>
            <a:ext cx="8991600" cy="461665"/>
          </a:xfrm>
          <a:prstGeom prst="rect">
            <a:avLst/>
          </a:prstGeom>
          <a:noFill/>
        </p:spPr>
        <p:txBody>
          <a:bodyPr wrap="square" rtlCol="0">
            <a:spAutoFit/>
          </a:bodyPr>
          <a:lstStyle/>
          <a:p>
            <a:r>
              <a:rPr lang="en-IN" sz="2400" u="sng" dirty="0">
                <a:solidFill>
                  <a:srgbClr val="FF0000"/>
                </a:solidFill>
                <a:latin typeface="Times New Roman" panose="02020603050405020304" pitchFamily="18" charset="0"/>
                <a:cs typeface="Times New Roman" panose="02020603050405020304" pitchFamily="18" charset="0"/>
              </a:rPr>
              <a:t>Comparison table for the existing system</a:t>
            </a:r>
            <a:endParaRPr lang="en-US" sz="2400" u="sng" dirty="0">
              <a:solidFill>
                <a:srgbClr val="FF0000"/>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C7B0E5F3-E63A-E40C-3B4F-FF4E3A18651B}"/>
              </a:ext>
            </a:extLst>
          </p:cNvPr>
          <p:cNvGraphicFramePr>
            <a:graphicFrameLocks noGrp="1"/>
          </p:cNvGraphicFramePr>
          <p:nvPr>
            <p:extLst>
              <p:ext uri="{D42A27DB-BD31-4B8C-83A1-F6EECF244321}">
                <p14:modId xmlns:p14="http://schemas.microsoft.com/office/powerpoint/2010/main" val="1719129372"/>
              </p:ext>
            </p:extLst>
          </p:nvPr>
        </p:nvGraphicFramePr>
        <p:xfrm>
          <a:off x="76200" y="381000"/>
          <a:ext cx="8975036" cy="6470469"/>
        </p:xfrm>
        <a:graphic>
          <a:graphicData uri="http://schemas.openxmlformats.org/drawingml/2006/table">
            <a:tbl>
              <a:tblPr firstRow="1" bandRow="1">
                <a:tableStyleId>{5C22544A-7EE6-4342-B048-85BDC9FD1C3A}</a:tableStyleId>
              </a:tblPr>
              <a:tblGrid>
                <a:gridCol w="563539">
                  <a:extLst>
                    <a:ext uri="{9D8B030D-6E8A-4147-A177-3AD203B41FA5}">
                      <a16:colId xmlns:a16="http://schemas.microsoft.com/office/drawing/2014/main" val="432745929"/>
                    </a:ext>
                  </a:extLst>
                </a:gridCol>
                <a:gridCol w="1128818">
                  <a:extLst>
                    <a:ext uri="{9D8B030D-6E8A-4147-A177-3AD203B41FA5}">
                      <a16:colId xmlns:a16="http://schemas.microsoft.com/office/drawing/2014/main" val="1998233565"/>
                    </a:ext>
                  </a:extLst>
                </a:gridCol>
                <a:gridCol w="1660443">
                  <a:extLst>
                    <a:ext uri="{9D8B030D-6E8A-4147-A177-3AD203B41FA5}">
                      <a16:colId xmlns:a16="http://schemas.microsoft.com/office/drawing/2014/main" val="3760181125"/>
                    </a:ext>
                  </a:extLst>
                </a:gridCol>
                <a:gridCol w="1295400">
                  <a:extLst>
                    <a:ext uri="{9D8B030D-6E8A-4147-A177-3AD203B41FA5}">
                      <a16:colId xmlns:a16="http://schemas.microsoft.com/office/drawing/2014/main" val="1470764825"/>
                    </a:ext>
                  </a:extLst>
                </a:gridCol>
                <a:gridCol w="2037570">
                  <a:extLst>
                    <a:ext uri="{9D8B030D-6E8A-4147-A177-3AD203B41FA5}">
                      <a16:colId xmlns:a16="http://schemas.microsoft.com/office/drawing/2014/main" val="3423994347"/>
                    </a:ext>
                  </a:extLst>
                </a:gridCol>
                <a:gridCol w="2289266">
                  <a:extLst>
                    <a:ext uri="{9D8B030D-6E8A-4147-A177-3AD203B41FA5}">
                      <a16:colId xmlns:a16="http://schemas.microsoft.com/office/drawing/2014/main" val="635663868"/>
                    </a:ext>
                  </a:extLst>
                </a:gridCol>
              </a:tblGrid>
              <a:tr h="1807029">
                <a:tc>
                  <a:txBody>
                    <a:bodyPr/>
                    <a:lstStyle/>
                    <a:p>
                      <a:pPr algn="ctr"/>
                      <a:r>
                        <a:rPr lang="en-US"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Authors and Journal Name&amp; Year of publication</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Problem Statement</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Name of the Proposed solution/Method by authors</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 Solution </a:t>
                      </a:r>
                      <a:endParaRPr lang="en-IN" sz="1200" dirty="0">
                        <a:latin typeface="Times New Roman" panose="02020603050405020304" pitchFamily="18" charset="0"/>
                        <a:cs typeface="Times New Roman" panose="02020603050405020304" pitchFamily="18" charset="0"/>
                      </a:endParaRPr>
                    </a:p>
                  </a:txBody>
                  <a:tcPr/>
                </a:tc>
                <a:tc>
                  <a:txBody>
                    <a:bodyPr/>
                    <a:lstStyle/>
                    <a:p>
                      <a:pPr algn="ctr"/>
                      <a:r>
                        <a:rPr lang="en-US" sz="1200" dirty="0">
                          <a:latin typeface="Times New Roman" panose="02020603050405020304" pitchFamily="18" charset="0"/>
                          <a:cs typeface="Times New Roman" panose="02020603050405020304" pitchFamily="18" charset="0"/>
                        </a:rPr>
                        <a:t>Remarks</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4428592"/>
                  </a:ext>
                </a:extLst>
              </a:tr>
              <a:tr h="1129393">
                <a:tc>
                  <a:txBody>
                    <a:bodyPr/>
                    <a:lstStyle/>
                    <a:p>
                      <a:r>
                        <a:rPr lang="en-US" dirty="0"/>
                        <a:t>3</a:t>
                      </a:r>
                      <a:endParaRPr lang="en-IN" dirty="0"/>
                    </a:p>
                  </a:txBody>
                  <a:tcPr/>
                </a:tc>
                <a:tc>
                  <a:txBody>
                    <a:bodyPr/>
                    <a:lstStyle/>
                    <a:p>
                      <a:r>
                        <a:rPr lang="en-IN" sz="1200" dirty="0"/>
                        <a:t>Justin Johnson, Alexandre </a:t>
                      </a:r>
                      <a:r>
                        <a:rPr lang="en-IN" sz="1200" dirty="0" err="1"/>
                        <a:t>Alahi</a:t>
                      </a:r>
                      <a:r>
                        <a:rPr lang="en-IN" sz="1200" dirty="0"/>
                        <a:t>, Li Fei-Fei, IEEE, </a:t>
                      </a:r>
                      <a:r>
                        <a:rPr lang="en-IN" sz="1200" b="0" i="0" dirty="0">
                          <a:solidFill>
                            <a:schemeClr val="dk1"/>
                          </a:solidFill>
                          <a:effectLst/>
                          <a:latin typeface="+mn-lt"/>
                          <a:ea typeface="+mn-ea"/>
                          <a:cs typeface="+mn-cs"/>
                        </a:rPr>
                        <a:t>27 Mar 2016</a:t>
                      </a:r>
                      <a:endParaRPr lang="en-IN" sz="1200" dirty="0"/>
                    </a:p>
                  </a:txBody>
                  <a:tcPr/>
                </a:tc>
                <a:tc>
                  <a:txBody>
                    <a:bodyPr/>
                    <a:lstStyle/>
                    <a:p>
                      <a:r>
                        <a:rPr lang="en-US" sz="1200" dirty="0"/>
                        <a:t>We consider image transformation problems, where an input image is transformed into an output image. Recent methods for such problems typically train feed-forward convolutional neural networks using a per-pixel loss between the output and ground-truth images. Parallel</a:t>
                      </a:r>
                    </a:p>
                    <a:p>
                      <a:r>
                        <a:rPr lang="en-US" sz="1200" dirty="0"/>
                        <a:t>work has shown that high-quality images can be generated by defining and optimizing perceptual loss functions based on high-level features extracted from pretrained networks.</a:t>
                      </a:r>
                      <a:endParaRPr lang="en-IN" sz="1200" dirty="0"/>
                    </a:p>
                  </a:txBody>
                  <a:tcPr/>
                </a:tc>
                <a:tc>
                  <a:txBody>
                    <a:bodyPr/>
                    <a:lstStyle/>
                    <a:p>
                      <a:r>
                        <a:rPr lang="en-US" sz="1200" dirty="0"/>
                        <a:t>Perceptual Losses for Real-Time Style Transfer</a:t>
                      </a:r>
                    </a:p>
                    <a:p>
                      <a:r>
                        <a:rPr lang="en-US" sz="1200" dirty="0"/>
                        <a:t>and Super-Resolution</a:t>
                      </a:r>
                      <a:endParaRPr lang="en-IN" sz="1200" dirty="0"/>
                    </a:p>
                  </a:txBody>
                  <a:tcPr/>
                </a:tc>
                <a:tc>
                  <a:txBody>
                    <a:bodyPr/>
                    <a:lstStyle/>
                    <a:p>
                      <a:r>
                        <a:rPr lang="en-US" sz="1200" dirty="0"/>
                        <a:t>We combine the benefits of both approaches, and propose the use of perceptual loss functions for training feed-forward networks for image transformation tasks. We show results on image style transfer, where a feed-forward network is trained to solve the optimization problem proposed by </a:t>
                      </a:r>
                      <a:r>
                        <a:rPr lang="en-US" sz="1200" dirty="0" err="1"/>
                        <a:t>Gatys</a:t>
                      </a:r>
                      <a:r>
                        <a:rPr lang="en-US" sz="1200" dirty="0"/>
                        <a:t> et al in real-time. Compared to the optimization-based method, our network gives similar qualitative results but is three orders of magnitude faster. We also experiment with single-image super-resolution, where replacing a per-pixel loss with a perceptual loss gives visually pleasing results.</a:t>
                      </a:r>
                      <a:endParaRPr lang="en-IN" sz="1200" dirty="0"/>
                    </a:p>
                  </a:txBody>
                  <a:tcPr/>
                </a:tc>
                <a:tc>
                  <a:txBody>
                    <a:bodyPr/>
                    <a:lstStyle/>
                    <a:p>
                      <a:r>
                        <a:rPr lang="en-IN" sz="1200" dirty="0"/>
                        <a:t>It can struggle to handle wide range of artistic styles effectively, as the models are typically pretrained on a fixed set of artistic styles.</a:t>
                      </a:r>
                    </a:p>
                  </a:txBody>
                  <a:tcPr/>
                </a:tc>
                <a:extLst>
                  <a:ext uri="{0D108BD9-81ED-4DB2-BD59-A6C34878D82A}">
                    <a16:rowId xmlns:a16="http://schemas.microsoft.com/office/drawing/2014/main" val="3097843794"/>
                  </a:ext>
                </a:extLst>
              </a:tr>
            </a:tbl>
          </a:graphicData>
        </a:graphic>
      </p:graphicFrame>
    </p:spTree>
    <p:extLst>
      <p:ext uri="{BB962C8B-B14F-4D97-AF65-F5344CB8AC3E}">
        <p14:creationId xmlns:p14="http://schemas.microsoft.com/office/powerpoint/2010/main" val="2831753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7985481-35B5-BE1D-3EEE-0328377D4B55}"/>
              </a:ext>
            </a:extLst>
          </p:cNvPr>
          <p:cNvGraphicFramePr>
            <a:graphicFrameLocks noGrp="1"/>
          </p:cNvGraphicFramePr>
          <p:nvPr>
            <p:extLst>
              <p:ext uri="{D42A27DB-BD31-4B8C-83A1-F6EECF244321}">
                <p14:modId xmlns:p14="http://schemas.microsoft.com/office/powerpoint/2010/main" val="3578617418"/>
              </p:ext>
            </p:extLst>
          </p:nvPr>
        </p:nvGraphicFramePr>
        <p:xfrm>
          <a:off x="76201" y="0"/>
          <a:ext cx="8991598" cy="6781800"/>
        </p:xfrm>
        <a:graphic>
          <a:graphicData uri="http://schemas.openxmlformats.org/drawingml/2006/table">
            <a:tbl>
              <a:tblPr firstRow="1" bandRow="1">
                <a:tableStyleId>{5C22544A-7EE6-4342-B048-85BDC9FD1C3A}</a:tableStyleId>
              </a:tblPr>
              <a:tblGrid>
                <a:gridCol w="1447799">
                  <a:extLst>
                    <a:ext uri="{9D8B030D-6E8A-4147-A177-3AD203B41FA5}">
                      <a16:colId xmlns:a16="http://schemas.microsoft.com/office/drawing/2014/main" val="3960764834"/>
                    </a:ext>
                  </a:extLst>
                </a:gridCol>
                <a:gridCol w="1447799">
                  <a:extLst>
                    <a:ext uri="{9D8B030D-6E8A-4147-A177-3AD203B41FA5}">
                      <a16:colId xmlns:a16="http://schemas.microsoft.com/office/drawing/2014/main" val="3390499392"/>
                    </a:ext>
                  </a:extLst>
                </a:gridCol>
                <a:gridCol w="1447802">
                  <a:extLst>
                    <a:ext uri="{9D8B030D-6E8A-4147-A177-3AD203B41FA5}">
                      <a16:colId xmlns:a16="http://schemas.microsoft.com/office/drawing/2014/main" val="2050912899"/>
                    </a:ext>
                  </a:extLst>
                </a:gridCol>
                <a:gridCol w="1650998">
                  <a:extLst>
                    <a:ext uri="{9D8B030D-6E8A-4147-A177-3AD203B41FA5}">
                      <a16:colId xmlns:a16="http://schemas.microsoft.com/office/drawing/2014/main" val="703772812"/>
                    </a:ext>
                  </a:extLst>
                </a:gridCol>
                <a:gridCol w="1498600">
                  <a:extLst>
                    <a:ext uri="{9D8B030D-6E8A-4147-A177-3AD203B41FA5}">
                      <a16:colId xmlns:a16="http://schemas.microsoft.com/office/drawing/2014/main" val="3217753309"/>
                    </a:ext>
                  </a:extLst>
                </a:gridCol>
                <a:gridCol w="1498600">
                  <a:extLst>
                    <a:ext uri="{9D8B030D-6E8A-4147-A177-3AD203B41FA5}">
                      <a16:colId xmlns:a16="http://schemas.microsoft.com/office/drawing/2014/main" val="1264361278"/>
                    </a:ext>
                  </a:extLst>
                </a:gridCol>
              </a:tblGrid>
              <a:tr h="860421">
                <a:tc>
                  <a:txBody>
                    <a:bodyPr/>
                    <a:lstStyle/>
                    <a:p>
                      <a:r>
                        <a:rPr lang="en-US" dirty="0"/>
                        <a:t>Year of </a:t>
                      </a:r>
                    </a:p>
                    <a:p>
                      <a:r>
                        <a:rPr lang="en-US" dirty="0"/>
                        <a:t>Publication</a:t>
                      </a:r>
                      <a:endParaRPr lang="en-IN" dirty="0"/>
                    </a:p>
                  </a:txBody>
                  <a:tcPr/>
                </a:tc>
                <a:tc>
                  <a:txBody>
                    <a:bodyPr/>
                    <a:lstStyle/>
                    <a:p>
                      <a:r>
                        <a:rPr lang="en-US" dirty="0"/>
                        <a:t>Author Name </a:t>
                      </a:r>
                      <a:endParaRPr lang="en-IN" dirty="0"/>
                    </a:p>
                  </a:txBody>
                  <a:tcPr/>
                </a:tc>
                <a:tc>
                  <a:txBody>
                    <a:bodyPr/>
                    <a:lstStyle/>
                    <a:p>
                      <a:r>
                        <a:rPr lang="en-US" dirty="0"/>
                        <a:t>Name of </a:t>
                      </a:r>
                    </a:p>
                    <a:p>
                      <a:r>
                        <a:rPr lang="en-US" dirty="0"/>
                        <a:t>Journal</a:t>
                      </a:r>
                      <a:endParaRPr lang="en-IN" dirty="0"/>
                    </a:p>
                  </a:txBody>
                  <a:tcPr/>
                </a:tc>
                <a:tc>
                  <a:txBody>
                    <a:bodyPr/>
                    <a:lstStyle/>
                    <a:p>
                      <a:r>
                        <a:rPr lang="en-US" dirty="0"/>
                        <a:t>Title of </a:t>
                      </a:r>
                    </a:p>
                    <a:p>
                      <a:r>
                        <a:rPr lang="en-US" dirty="0"/>
                        <a:t>Paper </a:t>
                      </a:r>
                      <a:endParaRPr lang="en-IN" dirty="0"/>
                    </a:p>
                  </a:txBody>
                  <a:tcPr/>
                </a:tc>
                <a:tc>
                  <a:txBody>
                    <a:bodyPr/>
                    <a:lstStyle/>
                    <a:p>
                      <a:r>
                        <a:rPr lang="en-US" dirty="0"/>
                        <a:t>Technology Used </a:t>
                      </a:r>
                      <a:endParaRPr lang="en-IN" dirty="0"/>
                    </a:p>
                  </a:txBody>
                  <a:tcPr/>
                </a:tc>
                <a:tc>
                  <a:txBody>
                    <a:bodyPr/>
                    <a:lstStyle/>
                    <a:p>
                      <a:r>
                        <a:rPr lang="en-US" dirty="0"/>
                        <a:t>Technique Used </a:t>
                      </a:r>
                      <a:endParaRPr lang="en-IN" dirty="0"/>
                    </a:p>
                  </a:txBody>
                  <a:tcPr/>
                </a:tc>
                <a:extLst>
                  <a:ext uri="{0D108BD9-81ED-4DB2-BD59-A6C34878D82A}">
                    <a16:rowId xmlns:a16="http://schemas.microsoft.com/office/drawing/2014/main" val="2599646980"/>
                  </a:ext>
                </a:extLst>
              </a:tr>
              <a:tr h="2568579">
                <a:tc>
                  <a:txBody>
                    <a:bodyPr/>
                    <a:lstStyle/>
                    <a:p>
                      <a:r>
                        <a:rPr lang="en-IN" sz="1600" dirty="0"/>
                        <a:t>2015</a:t>
                      </a:r>
                    </a:p>
                  </a:txBody>
                  <a:tcPr/>
                </a:tc>
                <a:tc>
                  <a:txBody>
                    <a:bodyPr/>
                    <a:lstStyle/>
                    <a:p>
                      <a:r>
                        <a:rPr lang="en-IN" sz="1600" dirty="0"/>
                        <a:t>Leon A. </a:t>
                      </a:r>
                      <a:r>
                        <a:rPr lang="en-IN" sz="1600" dirty="0" err="1"/>
                        <a:t>Gatys</a:t>
                      </a:r>
                      <a:r>
                        <a:rPr lang="en-IN" sz="1600" dirty="0"/>
                        <a:t>, Alexander S. </a:t>
                      </a:r>
                      <a:r>
                        <a:rPr lang="en-IN" sz="1600" dirty="0" err="1"/>
                        <a:t>Ecker,and</a:t>
                      </a:r>
                      <a:r>
                        <a:rPr lang="en-IN" sz="1600" dirty="0"/>
                        <a:t> Matthias </a:t>
                      </a:r>
                      <a:r>
                        <a:rPr lang="en-IN" sz="1600" dirty="0" err="1"/>
                        <a:t>Bethge</a:t>
                      </a:r>
                      <a:endParaRPr lang="en-IN" sz="1600" dirty="0"/>
                    </a:p>
                  </a:txBody>
                  <a:tcPr/>
                </a:tc>
                <a:tc>
                  <a:txBody>
                    <a:bodyPr/>
                    <a:lstStyle/>
                    <a:p>
                      <a:r>
                        <a:rPr lang="en-US" sz="1600" dirty="0" err="1"/>
                        <a:t>arXiv</a:t>
                      </a:r>
                      <a:endParaRPr lang="en-IN" sz="1600" dirty="0"/>
                    </a:p>
                  </a:txBody>
                  <a:tcPr/>
                </a:tc>
                <a:tc>
                  <a:txBody>
                    <a:bodyPr/>
                    <a:lstStyle/>
                    <a:p>
                      <a:r>
                        <a:rPr lang="en-IN" sz="1600" dirty="0"/>
                        <a:t>A Neural Algorithm of Artistic Style</a:t>
                      </a:r>
                    </a:p>
                  </a:txBody>
                  <a:tcPr/>
                </a:tc>
                <a:tc>
                  <a:txBody>
                    <a:bodyPr/>
                    <a:lstStyle/>
                    <a:p>
                      <a:r>
                        <a:rPr lang="en-IN" sz="1600" dirty="0"/>
                        <a:t>CNNs, Feature Extraction, Preprocessing and Post-processing</a:t>
                      </a:r>
                    </a:p>
                  </a:txBody>
                  <a:tcPr/>
                </a:tc>
                <a:tc>
                  <a:txBody>
                    <a:bodyPr/>
                    <a:lstStyle/>
                    <a:p>
                      <a:r>
                        <a:rPr lang="en-IN" sz="1600" dirty="0"/>
                        <a:t>Content and style separation, Loss functions, Optimization, Feature Maps</a:t>
                      </a:r>
                    </a:p>
                  </a:txBody>
                  <a:tcPr/>
                </a:tc>
                <a:extLst>
                  <a:ext uri="{0D108BD9-81ED-4DB2-BD59-A6C34878D82A}">
                    <a16:rowId xmlns:a16="http://schemas.microsoft.com/office/drawing/2014/main" val="3668726589"/>
                  </a:ext>
                </a:extLst>
              </a:tr>
              <a:tr h="3352800">
                <a:tc>
                  <a:txBody>
                    <a:bodyPr/>
                    <a:lstStyle/>
                    <a:p>
                      <a:r>
                        <a:rPr lang="en-IN" sz="1600" dirty="0"/>
                        <a:t>2017</a:t>
                      </a:r>
                    </a:p>
                  </a:txBody>
                  <a:tcPr/>
                </a:tc>
                <a:tc>
                  <a:txBody>
                    <a:bodyPr/>
                    <a:lstStyle/>
                    <a:p>
                      <a:r>
                        <a:rPr lang="en-IN" sz="1600" dirty="0"/>
                        <a:t>Jun-Yan Zhu, </a:t>
                      </a:r>
                      <a:r>
                        <a:rPr lang="en-IN" sz="1600" dirty="0" err="1"/>
                        <a:t>Taesung</a:t>
                      </a:r>
                      <a:r>
                        <a:rPr lang="en-IN" sz="1600" dirty="0"/>
                        <a:t> Park, Phillip Isola, and Alexei A. </a:t>
                      </a:r>
                      <a:r>
                        <a:rPr lang="en-IN" sz="1600" dirty="0" err="1"/>
                        <a:t>Efros</a:t>
                      </a:r>
                      <a:endParaRPr lang="en-IN" sz="1600" dirty="0"/>
                    </a:p>
                  </a:txBody>
                  <a:tcPr/>
                </a:tc>
                <a:tc>
                  <a:txBody>
                    <a:bodyPr/>
                    <a:lstStyle/>
                    <a:p>
                      <a:r>
                        <a:rPr lang="en-US" sz="1600" dirty="0" err="1"/>
                        <a:t>paperswithcode</a:t>
                      </a:r>
                      <a:endParaRPr lang="en-IN" sz="1600" dirty="0"/>
                    </a:p>
                  </a:txBody>
                  <a:tcPr/>
                </a:tc>
                <a:tc>
                  <a:txBody>
                    <a:bodyPr/>
                    <a:lstStyle/>
                    <a:p>
                      <a:r>
                        <a:rPr lang="en-IN" sz="1600" dirty="0"/>
                        <a:t>Unpaired Image-to-Image Translation using Cycle-Consistent Adversarial Networks</a:t>
                      </a:r>
                    </a:p>
                  </a:txBody>
                  <a:tcPr/>
                </a:tc>
                <a:tc>
                  <a:txBody>
                    <a:bodyPr/>
                    <a:lstStyle/>
                    <a:p>
                      <a:r>
                        <a:rPr lang="en-IN" sz="1600" dirty="0" err="1"/>
                        <a:t>CycleGAN</a:t>
                      </a:r>
                      <a:r>
                        <a:rPr lang="en-IN" sz="1600" dirty="0"/>
                        <a:t>, CNNs</a:t>
                      </a:r>
                    </a:p>
                  </a:txBody>
                  <a:tcPr/>
                </a:tc>
                <a:tc>
                  <a:txBody>
                    <a:bodyPr/>
                    <a:lstStyle/>
                    <a:p>
                      <a:r>
                        <a:rPr lang="en-IN" sz="1600" dirty="0"/>
                        <a:t>GANs, Cycle-Consistency Loss, Adversarial Loss</a:t>
                      </a:r>
                    </a:p>
                  </a:txBody>
                  <a:tcPr/>
                </a:tc>
                <a:extLst>
                  <a:ext uri="{0D108BD9-81ED-4DB2-BD59-A6C34878D82A}">
                    <a16:rowId xmlns:a16="http://schemas.microsoft.com/office/drawing/2014/main" val="2162770592"/>
                  </a:ext>
                </a:extLst>
              </a:tr>
            </a:tbl>
          </a:graphicData>
        </a:graphic>
      </p:graphicFrame>
    </p:spTree>
    <p:extLst>
      <p:ext uri="{BB962C8B-B14F-4D97-AF65-F5344CB8AC3E}">
        <p14:creationId xmlns:p14="http://schemas.microsoft.com/office/powerpoint/2010/main" val="2254285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137AD93-D7EF-F5AE-4AA8-1E27571AAF6B}"/>
              </a:ext>
            </a:extLst>
          </p:cNvPr>
          <p:cNvGraphicFramePr>
            <a:graphicFrameLocks noGrp="1"/>
          </p:cNvGraphicFramePr>
          <p:nvPr>
            <p:extLst>
              <p:ext uri="{D42A27DB-BD31-4B8C-83A1-F6EECF244321}">
                <p14:modId xmlns:p14="http://schemas.microsoft.com/office/powerpoint/2010/main" val="3273101780"/>
              </p:ext>
            </p:extLst>
          </p:nvPr>
        </p:nvGraphicFramePr>
        <p:xfrm>
          <a:off x="76200" y="76200"/>
          <a:ext cx="8991600" cy="6705600"/>
        </p:xfrm>
        <a:graphic>
          <a:graphicData uri="http://schemas.openxmlformats.org/drawingml/2006/table">
            <a:tbl>
              <a:tblPr firstRow="1" bandRow="1">
                <a:tableStyleId>{5C22544A-7EE6-4342-B048-85BDC9FD1C3A}</a:tableStyleId>
              </a:tblPr>
              <a:tblGrid>
                <a:gridCol w="1498600">
                  <a:extLst>
                    <a:ext uri="{9D8B030D-6E8A-4147-A177-3AD203B41FA5}">
                      <a16:colId xmlns:a16="http://schemas.microsoft.com/office/drawing/2014/main" val="1032869"/>
                    </a:ext>
                  </a:extLst>
                </a:gridCol>
                <a:gridCol w="1498600">
                  <a:extLst>
                    <a:ext uri="{9D8B030D-6E8A-4147-A177-3AD203B41FA5}">
                      <a16:colId xmlns:a16="http://schemas.microsoft.com/office/drawing/2014/main" val="2172373870"/>
                    </a:ext>
                  </a:extLst>
                </a:gridCol>
                <a:gridCol w="1498600">
                  <a:extLst>
                    <a:ext uri="{9D8B030D-6E8A-4147-A177-3AD203B41FA5}">
                      <a16:colId xmlns:a16="http://schemas.microsoft.com/office/drawing/2014/main" val="1739475139"/>
                    </a:ext>
                  </a:extLst>
                </a:gridCol>
                <a:gridCol w="1498600">
                  <a:extLst>
                    <a:ext uri="{9D8B030D-6E8A-4147-A177-3AD203B41FA5}">
                      <a16:colId xmlns:a16="http://schemas.microsoft.com/office/drawing/2014/main" val="2168237910"/>
                    </a:ext>
                  </a:extLst>
                </a:gridCol>
                <a:gridCol w="1498600">
                  <a:extLst>
                    <a:ext uri="{9D8B030D-6E8A-4147-A177-3AD203B41FA5}">
                      <a16:colId xmlns:a16="http://schemas.microsoft.com/office/drawing/2014/main" val="557183246"/>
                    </a:ext>
                  </a:extLst>
                </a:gridCol>
                <a:gridCol w="1498600">
                  <a:extLst>
                    <a:ext uri="{9D8B030D-6E8A-4147-A177-3AD203B41FA5}">
                      <a16:colId xmlns:a16="http://schemas.microsoft.com/office/drawing/2014/main" val="3369159800"/>
                    </a:ext>
                  </a:extLst>
                </a:gridCol>
              </a:tblGrid>
              <a:tr h="1905749">
                <a:tc>
                  <a:txBody>
                    <a:bodyPr/>
                    <a:lstStyle/>
                    <a:p>
                      <a:r>
                        <a:rPr lang="en-US" dirty="0"/>
                        <a:t>Dataset </a:t>
                      </a:r>
                      <a:endParaRPr lang="en-IN" dirty="0"/>
                    </a:p>
                  </a:txBody>
                  <a:tcPr/>
                </a:tc>
                <a:tc>
                  <a:txBody>
                    <a:bodyPr/>
                    <a:lstStyle/>
                    <a:p>
                      <a:r>
                        <a:rPr lang="en-US" dirty="0"/>
                        <a:t>Performance Evaluation </a:t>
                      </a:r>
                      <a:endParaRPr lang="en-IN" dirty="0"/>
                    </a:p>
                  </a:txBody>
                  <a:tcPr/>
                </a:tc>
                <a:tc>
                  <a:txBody>
                    <a:bodyPr/>
                    <a:lstStyle/>
                    <a:p>
                      <a:r>
                        <a:rPr lang="en-US" dirty="0"/>
                        <a:t>Key Contributions </a:t>
                      </a:r>
                      <a:endParaRPr lang="en-IN" dirty="0"/>
                    </a:p>
                  </a:txBody>
                  <a:tcPr/>
                </a:tc>
                <a:tc>
                  <a:txBody>
                    <a:bodyPr/>
                    <a:lstStyle/>
                    <a:p>
                      <a:r>
                        <a:rPr lang="en-US" dirty="0"/>
                        <a:t>Type of Technique </a:t>
                      </a:r>
                      <a:endParaRPr lang="en-IN" dirty="0"/>
                    </a:p>
                  </a:txBody>
                  <a:tcPr/>
                </a:tc>
                <a:tc>
                  <a:txBody>
                    <a:bodyPr/>
                    <a:lstStyle/>
                    <a:p>
                      <a:r>
                        <a:rPr lang="en-US" dirty="0"/>
                        <a:t>Your View on the Paper </a:t>
                      </a:r>
                      <a:endParaRPr lang="en-IN" dirty="0"/>
                    </a:p>
                  </a:txBody>
                  <a:tcPr/>
                </a:tc>
                <a:tc>
                  <a:txBody>
                    <a:bodyPr/>
                    <a:lstStyle/>
                    <a:p>
                      <a:r>
                        <a:rPr lang="en-US" dirty="0"/>
                        <a:t>Architecture(if any) </a:t>
                      </a:r>
                      <a:endParaRPr lang="en-IN" dirty="0"/>
                    </a:p>
                  </a:txBody>
                  <a:tcPr/>
                </a:tc>
                <a:extLst>
                  <a:ext uri="{0D108BD9-81ED-4DB2-BD59-A6C34878D82A}">
                    <a16:rowId xmlns:a16="http://schemas.microsoft.com/office/drawing/2014/main" val="3499373639"/>
                  </a:ext>
                </a:extLst>
              </a:tr>
              <a:tr h="1574550">
                <a:tc>
                  <a:txBody>
                    <a:bodyPr/>
                    <a:lstStyle/>
                    <a:p>
                      <a:r>
                        <a:rPr lang="en-IN" sz="1600" dirty="0"/>
                        <a:t>ImageNet</a:t>
                      </a:r>
                    </a:p>
                  </a:txBody>
                  <a:tcPr/>
                </a:tc>
                <a:tc>
                  <a:txBody>
                    <a:bodyPr/>
                    <a:lstStyle/>
                    <a:p>
                      <a:r>
                        <a:rPr lang="en-US" sz="1600" dirty="0"/>
                        <a:t>Artistic Effectiveness, Customizability</a:t>
                      </a:r>
                      <a:endParaRPr lang="en-IN" sz="1600" dirty="0"/>
                    </a:p>
                  </a:txBody>
                  <a:tcPr/>
                </a:tc>
                <a:tc>
                  <a:txBody>
                    <a:bodyPr/>
                    <a:lstStyle/>
                    <a:p>
                      <a:r>
                        <a:rPr lang="en-US" sz="1600" dirty="0"/>
                        <a:t>Use of CNNs, Artistic Applications, Creative Possibilities</a:t>
                      </a:r>
                      <a:endParaRPr lang="en-IN" sz="1600" dirty="0"/>
                    </a:p>
                  </a:txBody>
                  <a:tcPr/>
                </a:tc>
                <a:tc>
                  <a:txBody>
                    <a:bodyPr/>
                    <a:lstStyle/>
                    <a:p>
                      <a:r>
                        <a:rPr lang="en-US" sz="1600" dirty="0"/>
                        <a:t>Deep learning based image processing</a:t>
                      </a:r>
                      <a:endParaRPr lang="en-IN" sz="1600"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200" dirty="0"/>
                        <a:t>This paper revolutionized the field of neural style transfer by introducing a method to combine content and style in images using deep learning.</a:t>
                      </a:r>
                    </a:p>
                  </a:txBody>
                  <a:tcPr/>
                </a:tc>
                <a:tc>
                  <a:txBody>
                    <a:bodyPr/>
                    <a:lstStyle/>
                    <a:p>
                      <a:r>
                        <a:rPr lang="en-IN"/>
                        <a:t> </a:t>
                      </a:r>
                      <a:endParaRPr lang="en-IN" dirty="0"/>
                    </a:p>
                  </a:txBody>
                  <a:tcPr/>
                </a:tc>
                <a:extLst>
                  <a:ext uri="{0D108BD9-81ED-4DB2-BD59-A6C34878D82A}">
                    <a16:rowId xmlns:a16="http://schemas.microsoft.com/office/drawing/2014/main" val="4149369611"/>
                  </a:ext>
                </a:extLst>
              </a:tr>
              <a:tr h="3062491">
                <a:tc>
                  <a:txBody>
                    <a:bodyPr/>
                    <a:lstStyle/>
                    <a:p>
                      <a:r>
                        <a:rPr lang="en-IN" sz="1600" dirty="0" err="1"/>
                        <a:t>CycleGAN</a:t>
                      </a:r>
                      <a:r>
                        <a:rPr lang="en-IN" sz="1600" dirty="0"/>
                        <a:t> Horse-to-Zebra</a:t>
                      </a:r>
                    </a:p>
                  </a:txBody>
                  <a:tcPr/>
                </a:tc>
                <a:tc>
                  <a:txBody>
                    <a:bodyPr/>
                    <a:lstStyle/>
                    <a:p>
                      <a:r>
                        <a:rPr lang="en-US" sz="1600" dirty="0"/>
                        <a:t>Visually appealing images, Consistency, Quality </a:t>
                      </a:r>
                      <a:endParaRPr lang="en-IN" sz="1600" dirty="0"/>
                    </a:p>
                  </a:txBody>
                  <a:tcPr/>
                </a:tc>
                <a:tc>
                  <a:txBody>
                    <a:bodyPr/>
                    <a:lstStyle/>
                    <a:p>
                      <a:r>
                        <a:rPr lang="en-US" sz="1600" dirty="0"/>
                        <a:t>Cycle-Consistency for Unpaired Image Translation</a:t>
                      </a:r>
                      <a:endParaRPr lang="en-IN" sz="1600" dirty="0"/>
                    </a:p>
                  </a:txBody>
                  <a:tcPr/>
                </a:tc>
                <a:tc>
                  <a:txBody>
                    <a:bodyPr/>
                    <a:lstStyle/>
                    <a:p>
                      <a:r>
                        <a:rPr lang="en-US" sz="1600" dirty="0" err="1"/>
                        <a:t>CycleGAN</a:t>
                      </a:r>
                      <a:endParaRPr lang="en-IN" sz="1600" dirty="0"/>
                    </a:p>
                  </a:txBody>
                  <a:tcPr/>
                </a:tc>
                <a:tc>
                  <a:txBody>
                    <a:bodyPr/>
                    <a:lstStyle/>
                    <a:p>
                      <a:r>
                        <a:rPr lang="en-IN" sz="1200" dirty="0"/>
                        <a:t>It addresses the challenging problem of translating images</a:t>
                      </a:r>
                    </a:p>
                    <a:p>
                      <a:r>
                        <a:rPr lang="en-IN" sz="1200" dirty="0"/>
                        <a:t>from one domain to another without requiring paired training data, which is significant</a:t>
                      </a:r>
                    </a:p>
                    <a:p>
                      <a:r>
                        <a:rPr lang="en-IN" sz="1200" dirty="0"/>
                        <a:t>Advancement in the field of image-to-image translation.</a:t>
                      </a:r>
                    </a:p>
                  </a:txBody>
                  <a:tcPr/>
                </a:tc>
                <a:tc>
                  <a:txBody>
                    <a:bodyPr/>
                    <a:lstStyle/>
                    <a:p>
                      <a:r>
                        <a:rPr lang="en-US" sz="1600" dirty="0"/>
                        <a:t>Novel Architectural Design</a:t>
                      </a:r>
                      <a:endParaRPr lang="en-IN" sz="1600" dirty="0"/>
                    </a:p>
                  </a:txBody>
                  <a:tcPr/>
                </a:tc>
                <a:extLst>
                  <a:ext uri="{0D108BD9-81ED-4DB2-BD59-A6C34878D82A}">
                    <a16:rowId xmlns:a16="http://schemas.microsoft.com/office/drawing/2014/main" val="3920877118"/>
                  </a:ext>
                </a:extLst>
              </a:tr>
            </a:tbl>
          </a:graphicData>
        </a:graphic>
      </p:graphicFrame>
    </p:spTree>
    <p:extLst>
      <p:ext uri="{BB962C8B-B14F-4D97-AF65-F5344CB8AC3E}">
        <p14:creationId xmlns:p14="http://schemas.microsoft.com/office/powerpoint/2010/main" val="2149193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6200" y="457200"/>
            <a:ext cx="8991600" cy="461665"/>
          </a:xfrm>
          <a:prstGeom prst="rect">
            <a:avLst/>
          </a:prstGeom>
          <a:noFill/>
        </p:spPr>
        <p:txBody>
          <a:bodyPr wrap="square" rtlCol="0">
            <a:spAutoFit/>
          </a:bodyPr>
          <a:lstStyle/>
          <a:p>
            <a:r>
              <a:rPr lang="en-US" sz="2400" dirty="0">
                <a:solidFill>
                  <a:srgbClr val="FF0000"/>
                </a:solidFill>
                <a:latin typeface="+mj-lt"/>
                <a:cs typeface="Times New Roman" panose="02020603050405020304" pitchFamily="18" charset="0"/>
              </a:rPr>
              <a:t>Implementation of Existing System</a:t>
            </a:r>
          </a:p>
        </p:txBody>
      </p:sp>
      <p:sp>
        <p:nvSpPr>
          <p:cNvPr id="7" name="CustomShape 1"/>
          <p:cNvSpPr/>
          <p:nvPr/>
        </p:nvSpPr>
        <p:spPr>
          <a:xfrm>
            <a:off x="76200" y="1066800"/>
            <a:ext cx="8381160" cy="75600"/>
          </a:xfrm>
          <a:prstGeom prst="rect">
            <a:avLst/>
          </a:prstGeom>
          <a:solidFill>
            <a:srgbClr val="7030A0"/>
          </a:solidFill>
          <a:ln w="25560">
            <a:solidFill>
              <a:srgbClr val="3A5F8B"/>
            </a:solidFill>
            <a:round/>
          </a:ln>
        </p:spPr>
        <p:txBody>
          <a:bodyPr/>
          <a:lstStyle/>
          <a:p>
            <a:endParaRPr lang="en-IN"/>
          </a:p>
        </p:txBody>
      </p:sp>
      <p:sp>
        <p:nvSpPr>
          <p:cNvPr id="3" name="TextBox 2">
            <a:extLst>
              <a:ext uri="{FF2B5EF4-FFF2-40B4-BE49-F238E27FC236}">
                <a16:creationId xmlns:a16="http://schemas.microsoft.com/office/drawing/2014/main" id="{8730F4C1-E408-5C06-64AF-B07CC996CE72}"/>
              </a:ext>
            </a:extLst>
          </p:cNvPr>
          <p:cNvSpPr txBox="1"/>
          <p:nvPr/>
        </p:nvSpPr>
        <p:spPr>
          <a:xfrm>
            <a:off x="304800" y="1447800"/>
            <a:ext cx="8305800" cy="4247317"/>
          </a:xfrm>
          <a:prstGeom prst="rect">
            <a:avLst/>
          </a:prstGeom>
          <a:noFill/>
        </p:spPr>
        <p:txBody>
          <a:bodyPr wrap="square">
            <a:spAutoFit/>
          </a:bodyPr>
          <a:lstStyle/>
          <a:p>
            <a:pPr algn="just"/>
            <a:r>
              <a:rPr lang="en-US" dirty="0"/>
              <a:t>                   The results were generated on the basis of the VGG-Network, a Convolutional Neural Network that rivals human performance on a common visual object recognition benchmark task and was introduced and extensively described in. Used the feature space provided by the 16 convolutional and 5 pooling layers of the 19 layer VGG Network. Did not used any of the fully connected layers. The model is publicly available and can be explored in the caffe-framework. For image synthesis, replacing the max-pooling operation by average pooling improves the gradient flow and one obtains slightly more appealing results, which is why the images shown were generated with average pooling.</a:t>
            </a:r>
          </a:p>
          <a:p>
            <a:pPr algn="just"/>
            <a:endParaRPr lang="en-US" dirty="0"/>
          </a:p>
          <a:p>
            <a:pPr algn="just"/>
            <a:r>
              <a:rPr lang="en-US" dirty="0"/>
              <a:t>                   Generally each layer in the network defines a non-linear filter bank whose complexity increases with the position of the layer in the network. Hence a given input image ~x is encoded in each layer of the CNN by the filter responses to that image.</a:t>
            </a:r>
            <a:endParaRPr lang="en-IN" dirty="0"/>
          </a:p>
        </p:txBody>
      </p:sp>
    </p:spTree>
    <p:extLst>
      <p:ext uri="{BB962C8B-B14F-4D97-AF65-F5344CB8AC3E}">
        <p14:creationId xmlns:p14="http://schemas.microsoft.com/office/powerpoint/2010/main" val="1038465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stomShape 1"/>
          <p:cNvSpPr/>
          <p:nvPr/>
        </p:nvSpPr>
        <p:spPr>
          <a:xfrm>
            <a:off x="457200" y="990600"/>
            <a:ext cx="8381160" cy="75600"/>
          </a:xfrm>
          <a:prstGeom prst="rect">
            <a:avLst/>
          </a:prstGeom>
          <a:solidFill>
            <a:srgbClr val="7030A0"/>
          </a:solidFill>
          <a:ln w="25560">
            <a:solidFill>
              <a:srgbClr val="3A5F8B"/>
            </a:solidFill>
            <a:round/>
          </a:ln>
        </p:spPr>
        <p:txBody>
          <a:bodyPr/>
          <a:lstStyle/>
          <a:p>
            <a:endParaRPr lang="en-IN"/>
          </a:p>
        </p:txBody>
      </p:sp>
      <p:sp>
        <p:nvSpPr>
          <p:cNvPr id="8" name="TextBox 7"/>
          <p:cNvSpPr txBox="1"/>
          <p:nvPr/>
        </p:nvSpPr>
        <p:spPr>
          <a:xfrm>
            <a:off x="457200" y="457200"/>
            <a:ext cx="3048000" cy="523220"/>
          </a:xfrm>
          <a:prstGeom prst="rect">
            <a:avLst/>
          </a:prstGeom>
          <a:noFill/>
        </p:spPr>
        <p:txBody>
          <a:bodyPr wrap="square" rtlCol="0">
            <a:spAutoFit/>
          </a:bodyPr>
          <a:lstStyle/>
          <a:p>
            <a:r>
              <a:rPr lang="en-US" sz="2800" b="1" dirty="0">
                <a:solidFill>
                  <a:srgbClr val="C00000"/>
                </a:solidFill>
                <a:latin typeface="+mj-lt"/>
              </a:rPr>
              <a:t>Result</a:t>
            </a:r>
          </a:p>
        </p:txBody>
      </p:sp>
      <p:sp>
        <p:nvSpPr>
          <p:cNvPr id="2" name="TextBox 1">
            <a:extLst>
              <a:ext uri="{FF2B5EF4-FFF2-40B4-BE49-F238E27FC236}">
                <a16:creationId xmlns:a16="http://schemas.microsoft.com/office/drawing/2014/main" id="{6E6D1240-B543-B0DA-C7C9-92823B2628DA}"/>
              </a:ext>
            </a:extLst>
          </p:cNvPr>
          <p:cNvSpPr txBox="1"/>
          <p:nvPr/>
        </p:nvSpPr>
        <p:spPr>
          <a:xfrm>
            <a:off x="457200" y="1828800"/>
            <a:ext cx="8381160" cy="3139321"/>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result of a neural style transfer project is the creation of visually striking images by carefully blending the content of one image with the artistic style of another. </a:t>
            </a:r>
          </a:p>
          <a:p>
            <a:pPr algn="just"/>
            <a:endParaRPr lang="en-US" dirty="0"/>
          </a:p>
          <a:p>
            <a:pPr marL="285750" indent="-285750" algn="just">
              <a:buFont typeface="Arial" panose="020B0604020202020204" pitchFamily="34" charset="0"/>
              <a:buChar char="•"/>
            </a:pPr>
            <a:r>
              <a:rPr lang="en-US" dirty="0"/>
              <a:t>These stylized images showcase unique and artistic effects, making them suitable for a range of applications in design, art, and visual content enhancement.</a:t>
            </a:r>
          </a:p>
          <a:p>
            <a:pPr algn="just"/>
            <a:endParaRPr lang="en-US" dirty="0"/>
          </a:p>
          <a:p>
            <a:pPr marL="285750" indent="-285750" algn="just">
              <a:buFont typeface="Arial" panose="020B0604020202020204" pitchFamily="34" charset="0"/>
              <a:buChar char="•"/>
            </a:pPr>
            <a:r>
              <a:rPr lang="en-US" dirty="0"/>
              <a:t>This technology is applicable in fields like graphic design, fine arts, and visual content enhancement, also provides a visually engaging and creative approach to image processing.</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1"/>
          <p:cNvSpPr/>
          <p:nvPr/>
        </p:nvSpPr>
        <p:spPr>
          <a:xfrm>
            <a:off x="457200" y="1066680"/>
            <a:ext cx="8381160" cy="75600"/>
          </a:xfrm>
          <a:prstGeom prst="rect">
            <a:avLst/>
          </a:prstGeom>
          <a:solidFill>
            <a:srgbClr val="7030A0"/>
          </a:solidFill>
          <a:ln w="25560">
            <a:solidFill>
              <a:srgbClr val="3A5F8B"/>
            </a:solidFill>
            <a:round/>
          </a:ln>
        </p:spPr>
        <p:txBody>
          <a:bodyPr/>
          <a:lstStyle/>
          <a:p>
            <a:endParaRPr lang="en-IN"/>
          </a:p>
        </p:txBody>
      </p:sp>
      <p:sp>
        <p:nvSpPr>
          <p:cNvPr id="5" name="CustomShape 2"/>
          <p:cNvSpPr/>
          <p:nvPr/>
        </p:nvSpPr>
        <p:spPr>
          <a:xfrm>
            <a:off x="457200" y="533400"/>
            <a:ext cx="8381160" cy="455760"/>
          </a:xfrm>
          <a:prstGeom prst="rect">
            <a:avLst/>
          </a:prstGeom>
        </p:spPr>
        <p:txBody>
          <a:bodyPr lIns="90000" tIns="45000" rIns="90000" bIns="45000"/>
          <a:lstStyle/>
          <a:p>
            <a:pPr>
              <a:lnSpc>
                <a:spcPct val="100000"/>
              </a:lnSpc>
            </a:pPr>
            <a:r>
              <a:rPr lang="en-IN" sz="3200" b="1" dirty="0">
                <a:solidFill>
                  <a:srgbClr val="C00000"/>
                </a:solidFill>
                <a:latin typeface="+mj-lt"/>
              </a:rPr>
              <a:t>Conclusion</a:t>
            </a:r>
            <a:endParaRPr sz="3200" dirty="0">
              <a:solidFill>
                <a:srgbClr val="C00000"/>
              </a:solidFill>
              <a:latin typeface="+mj-lt"/>
            </a:endParaRPr>
          </a:p>
        </p:txBody>
      </p:sp>
      <p:sp>
        <p:nvSpPr>
          <p:cNvPr id="2" name="TextBox 1">
            <a:extLst>
              <a:ext uri="{FF2B5EF4-FFF2-40B4-BE49-F238E27FC236}">
                <a16:creationId xmlns:a16="http://schemas.microsoft.com/office/drawing/2014/main" id="{CCB93088-127C-EAD2-B626-6FFBD0ED71A8}"/>
              </a:ext>
            </a:extLst>
          </p:cNvPr>
          <p:cNvSpPr txBox="1"/>
          <p:nvPr/>
        </p:nvSpPr>
        <p:spPr>
          <a:xfrm>
            <a:off x="457200" y="1524000"/>
            <a:ext cx="8458200" cy="3693319"/>
          </a:xfrm>
          <a:prstGeom prst="rect">
            <a:avLst/>
          </a:prstGeom>
          <a:noFill/>
        </p:spPr>
        <p:txBody>
          <a:bodyPr wrap="square" rtlCol="0">
            <a:spAutoFit/>
          </a:bodyPr>
          <a:lstStyle/>
          <a:p>
            <a:r>
              <a:rPr lang="en-US" b="1" dirty="0"/>
              <a:t>In conclusion:</a:t>
            </a:r>
          </a:p>
          <a:p>
            <a:endParaRPr lang="en-US" dirty="0"/>
          </a:p>
          <a:p>
            <a:pPr marL="285750" indent="-285750" algn="just">
              <a:buFont typeface="Arial" panose="020B0604020202020204" pitchFamily="34" charset="0"/>
              <a:buChar char="•"/>
            </a:pPr>
            <a:r>
              <a:rPr lang="en-US" dirty="0"/>
              <a:t>This style transfer project has successfully developed an innovative algorithm that allows users to transform their images by blending content with artistic styles.</a:t>
            </a:r>
          </a:p>
          <a:p>
            <a:pPr algn="just"/>
            <a:r>
              <a:rPr lang="en-US" dirty="0"/>
              <a:t> </a:t>
            </a:r>
          </a:p>
          <a:p>
            <a:pPr marL="285750" indent="-285750" algn="just">
              <a:buFont typeface="Arial" panose="020B0604020202020204" pitchFamily="34" charset="0"/>
              <a:buChar char="•"/>
            </a:pPr>
            <a:r>
              <a:rPr lang="en-US" dirty="0"/>
              <a:t>The project achieved real-time performance, user-friendliness, and high-quality results.</a:t>
            </a:r>
          </a:p>
          <a:p>
            <a:pPr algn="just"/>
            <a:endParaRPr lang="en-US" dirty="0"/>
          </a:p>
          <a:p>
            <a:pPr marL="285750" indent="-285750" algn="just">
              <a:buFont typeface="Arial" panose="020B0604020202020204" pitchFamily="34" charset="0"/>
              <a:buChar char="•"/>
            </a:pPr>
            <a:r>
              <a:rPr lang="en-US" dirty="0"/>
              <a:t>This solution opens up new creative possibilities and practical applications across various domains, marking a significant advancement in the field of digital image manipulation."</a:t>
            </a:r>
            <a:endParaRPr lang="en-IN" dirty="0"/>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stomShape 1"/>
          <p:cNvSpPr/>
          <p:nvPr/>
        </p:nvSpPr>
        <p:spPr>
          <a:xfrm>
            <a:off x="228600" y="914400"/>
            <a:ext cx="8381160" cy="75600"/>
          </a:xfrm>
          <a:prstGeom prst="rect">
            <a:avLst/>
          </a:prstGeom>
          <a:solidFill>
            <a:srgbClr val="7030A0"/>
          </a:solidFill>
          <a:ln w="25560">
            <a:solidFill>
              <a:srgbClr val="3A5F8B"/>
            </a:solidFill>
            <a:round/>
          </a:ln>
        </p:spPr>
        <p:txBody>
          <a:bodyPr/>
          <a:lstStyle/>
          <a:p>
            <a:endParaRPr lang="en-IN"/>
          </a:p>
        </p:txBody>
      </p:sp>
      <p:sp>
        <p:nvSpPr>
          <p:cNvPr id="5" name="TextBox 4"/>
          <p:cNvSpPr txBox="1"/>
          <p:nvPr/>
        </p:nvSpPr>
        <p:spPr>
          <a:xfrm>
            <a:off x="152400" y="304800"/>
            <a:ext cx="2819400" cy="1077218"/>
          </a:xfrm>
          <a:prstGeom prst="rect">
            <a:avLst/>
          </a:prstGeom>
          <a:noFill/>
        </p:spPr>
        <p:txBody>
          <a:bodyPr wrap="square" rtlCol="0">
            <a:spAutoFit/>
          </a:bodyPr>
          <a:lstStyle/>
          <a:p>
            <a:r>
              <a:rPr lang="en-IN" sz="3200" b="1" dirty="0">
                <a:solidFill>
                  <a:srgbClr val="C00000"/>
                </a:solidFill>
                <a:latin typeface="+mj-lt"/>
              </a:rPr>
              <a:t>References</a:t>
            </a:r>
            <a:endParaRPr lang="en-IN" sz="3200" dirty="0">
              <a:solidFill>
                <a:srgbClr val="C00000"/>
              </a:solidFill>
              <a:latin typeface="+mj-lt"/>
            </a:endParaRPr>
          </a:p>
          <a:p>
            <a:endParaRPr lang="en-US" sz="3200" dirty="0">
              <a:latin typeface="+mj-lt"/>
            </a:endParaRPr>
          </a:p>
        </p:txBody>
      </p:sp>
      <p:sp>
        <p:nvSpPr>
          <p:cNvPr id="4" name="TextBox 3">
            <a:extLst>
              <a:ext uri="{FF2B5EF4-FFF2-40B4-BE49-F238E27FC236}">
                <a16:creationId xmlns:a16="http://schemas.microsoft.com/office/drawing/2014/main" id="{0A606B4A-E3A8-9B99-7C95-DF1951D441BA}"/>
              </a:ext>
            </a:extLst>
          </p:cNvPr>
          <p:cNvSpPr txBox="1"/>
          <p:nvPr/>
        </p:nvSpPr>
        <p:spPr>
          <a:xfrm>
            <a:off x="228600" y="1114455"/>
            <a:ext cx="8458200" cy="3416320"/>
          </a:xfrm>
          <a:prstGeom prst="rect">
            <a:avLst/>
          </a:prstGeom>
          <a:noFill/>
        </p:spPr>
        <p:txBody>
          <a:bodyPr wrap="square">
            <a:spAutoFit/>
          </a:bodyPr>
          <a:lstStyle/>
          <a:p>
            <a:pPr algn="just"/>
            <a:r>
              <a:rPr lang="en-IN" dirty="0"/>
              <a:t>1. Dong, C., Loy, C.C., He, K., Tang, X.: Image super-resolution using deep convolutional networks. (2015)</a:t>
            </a:r>
          </a:p>
          <a:p>
            <a:pPr algn="just"/>
            <a:endParaRPr lang="en-IN" dirty="0"/>
          </a:p>
          <a:p>
            <a:pPr algn="just"/>
            <a:r>
              <a:rPr lang="en-IN" dirty="0"/>
              <a:t>2. Cheng, Z., Yang, Q., Sheng, B.: Deep colorization. In: Proceedings of the IEEE</a:t>
            </a:r>
          </a:p>
          <a:p>
            <a:pPr algn="just"/>
            <a:r>
              <a:rPr lang="en-IN" dirty="0"/>
              <a:t>International Conference on Computer Vision. (2015) 415–423</a:t>
            </a:r>
          </a:p>
          <a:p>
            <a:pPr algn="just"/>
            <a:endParaRPr lang="en-IN" dirty="0"/>
          </a:p>
          <a:p>
            <a:pPr algn="just"/>
            <a:r>
              <a:rPr lang="en-IN" dirty="0"/>
              <a:t>3. Long, J., </a:t>
            </a:r>
            <a:r>
              <a:rPr lang="en-IN" dirty="0" err="1"/>
              <a:t>Shelhamer</a:t>
            </a:r>
            <a:r>
              <a:rPr lang="en-IN" dirty="0"/>
              <a:t>, E., Darrell, T.: Fully convolutional networks for semantic</a:t>
            </a:r>
          </a:p>
          <a:p>
            <a:pPr algn="just"/>
            <a:r>
              <a:rPr lang="en-IN" dirty="0"/>
              <a:t>segmentation. CVPR (2015)</a:t>
            </a:r>
          </a:p>
          <a:p>
            <a:pPr algn="just"/>
            <a:endParaRPr lang="en-IN" dirty="0"/>
          </a:p>
          <a:p>
            <a:pPr algn="just"/>
            <a:r>
              <a:rPr lang="en-IN" dirty="0"/>
              <a:t>4. </a:t>
            </a:r>
            <a:r>
              <a:rPr lang="en-IN" b="0" i="0" dirty="0">
                <a:solidFill>
                  <a:srgbClr val="242424"/>
                </a:solidFill>
                <a:effectLst/>
              </a:rPr>
              <a:t>Leon A. </a:t>
            </a:r>
            <a:r>
              <a:rPr lang="en-IN" b="0" i="0" dirty="0" err="1">
                <a:solidFill>
                  <a:srgbClr val="242424"/>
                </a:solidFill>
                <a:effectLst/>
              </a:rPr>
              <a:t>Gatys</a:t>
            </a:r>
            <a:r>
              <a:rPr lang="en-IN" b="0" i="0" dirty="0">
                <a:solidFill>
                  <a:srgbClr val="242424"/>
                </a:solidFill>
                <a:effectLst/>
              </a:rPr>
              <a:t>, Alexander S. Ecker, Matthias </a:t>
            </a:r>
            <a:r>
              <a:rPr lang="en-IN" b="0" i="0" dirty="0" err="1">
                <a:solidFill>
                  <a:srgbClr val="242424"/>
                </a:solidFill>
                <a:effectLst/>
              </a:rPr>
              <a:t>Bethge</a:t>
            </a:r>
            <a:r>
              <a:rPr lang="en-IN" dirty="0"/>
              <a:t>.: A Neural Algorithm of Artistic Style</a:t>
            </a:r>
            <a:r>
              <a:rPr lang="en-IN" dirty="0">
                <a:solidFill>
                  <a:srgbClr val="242424"/>
                </a:solidFill>
                <a:latin typeface="source-serif-pro"/>
              </a:rPr>
              <a:t>.</a:t>
            </a:r>
            <a:r>
              <a:rPr lang="en-IN" dirty="0"/>
              <a:t> (2015)</a:t>
            </a:r>
          </a:p>
          <a:p>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371600" y="3048000"/>
            <a:ext cx="6771598" cy="1569660"/>
          </a:xfrm>
          <a:prstGeom prst="rect">
            <a:avLst/>
          </a:prstGeom>
          <a:noFill/>
        </p:spPr>
        <p:txBody>
          <a:bodyPr wrap="none" lIns="91440" tIns="45720" rIns="91440" bIns="45720">
            <a:spAutoFit/>
          </a:bodyPr>
          <a:lstStyle/>
          <a:p>
            <a:pPr algn="ctr"/>
            <a:r>
              <a:rPr lang="en-US" sz="96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10392</TotalTime>
  <Words>1957</Words>
  <Application>Microsoft Office PowerPoint</Application>
  <PresentationFormat>On-screen Show (4:3)</PresentationFormat>
  <Paragraphs>176</Paragraphs>
  <Slides>22</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Black</vt:lpstr>
      <vt:lpstr>Bookman Old Style</vt:lpstr>
      <vt:lpstr>Calibri</vt:lpstr>
      <vt:lpstr>source-serif-pro</vt:lpstr>
      <vt:lpstr>StarSymbol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Hareen</dc:creator>
  <cp:lastModifiedBy>Pavan M</cp:lastModifiedBy>
  <cp:revision>741</cp:revision>
  <dcterms:modified xsi:type="dcterms:W3CDTF">2023-11-14T05:56:48Z</dcterms:modified>
</cp:coreProperties>
</file>